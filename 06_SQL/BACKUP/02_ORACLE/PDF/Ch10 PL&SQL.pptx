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notesMasterIdLst>
    <p:notesMasterId r:id="rId20"/>
  </p:notesMasterIdLst>
  <p:sldIdLst>
    <p:sldId id="256" r:id="rId2"/>
    <p:sldId id="257" r:id="rId3"/>
    <p:sldId id="258" r:id="rId4"/>
    <p:sldId id="281" r:id="rId5"/>
    <p:sldId id="282" r:id="rId6"/>
    <p:sldId id="283" r:id="rId7"/>
    <p:sldId id="284" r:id="rId8"/>
    <p:sldId id="285" r:id="rId9"/>
    <p:sldId id="286" r:id="rId10"/>
    <p:sldId id="294" r:id="rId11"/>
    <p:sldId id="295" r:id="rId12"/>
    <p:sldId id="296" r:id="rId13"/>
    <p:sldId id="297" r:id="rId14"/>
    <p:sldId id="298" r:id="rId15"/>
    <p:sldId id="299" r:id="rId16"/>
    <p:sldId id="302" r:id="rId17"/>
    <p:sldId id="303" r:id="rId18"/>
    <p:sldId id="280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21" autoAdjust="0"/>
    <p:restoredTop sz="88290"/>
  </p:normalViewPr>
  <p:slideViewPr>
    <p:cSldViewPr snapToGrid="0" showGuides="1">
      <p:cViewPr varScale="1">
        <p:scale>
          <a:sx n="53" d="100"/>
          <a:sy n="53" d="100"/>
        </p:scale>
        <p:origin x="67" y="355"/>
      </p:cViewPr>
      <p:guideLst>
        <p:guide orient="horz" pos="2177"/>
        <p:guide pos="3840"/>
      </p:guideLst>
    </p:cSldViewPr>
  </p:slideViewPr>
  <p:notesTextViewPr>
    <p:cViewPr>
      <p:scale>
        <a:sx n="115" d="100"/>
        <a:sy n="11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2022-04-30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9176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4843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2537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1434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3505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35076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40780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61421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9235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65296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90986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69338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60325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6722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638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330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722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83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639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37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98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975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94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722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840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1">
              <a:rPr lang="en-US"/>
              <a:pPr>
                <a:defRPr/>
              </a:pPr>
              <a:t>4/30/2022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3AC7D0C1-D5FE-48CB-AEB6-E9E3D1C2E343}" type="datetime1">
              <a:rPr lang="ko-KR" altLang="en-US"/>
              <a:pPr lvl="0">
                <a:defRPr/>
              </a:pPr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F5B5AC3A-BA06-4AE0-833B-7241F9EB1D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9776459" y="6505575"/>
            <a:ext cx="234546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800">
                <a:solidFill>
                  <a:schemeClr val="accent4"/>
                </a:solidFill>
                <a:latin typeface="+mn-ea"/>
              </a:rPr>
              <a:t>Copyrightⓒ. Saebyeol Yu. All Rights Reserved.</a:t>
            </a:r>
            <a:endParaRPr lang="ko-KR" altLang="en-US" sz="800">
              <a:solidFill>
                <a:schemeClr val="accent4"/>
              </a:solidFill>
              <a:latin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직선 연결선 64"/>
          <p:cNvCxnSpPr/>
          <p:nvPr/>
        </p:nvCxnSpPr>
        <p:spPr>
          <a:xfrm>
            <a:off x="611663" y="3456445"/>
            <a:ext cx="604657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그룹 2"/>
          <p:cNvGrpSpPr/>
          <p:nvPr/>
        </p:nvGrpSpPr>
        <p:grpSpPr>
          <a:xfrm>
            <a:off x="7704760" y="1108112"/>
            <a:ext cx="2910665" cy="2941837"/>
            <a:chOff x="8307536" y="513343"/>
            <a:chExt cx="3656577" cy="3695737"/>
          </a:xfrm>
        </p:grpSpPr>
        <p:sp>
          <p:nvSpPr>
            <p:cNvPr id="6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6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1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2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3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75" name="TextBox 17"/>
          <p:cNvSpPr txBox="1"/>
          <p:nvPr/>
        </p:nvSpPr>
        <p:spPr>
          <a:xfrm>
            <a:off x="442656" y="2613986"/>
            <a:ext cx="73236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000" b="1" spc="-150" dirty="0">
                <a:solidFill>
                  <a:srgbClr val="595959"/>
                </a:solidFill>
                <a:latin typeface="+mj-lt"/>
                <a:ea typeface="THE명품고딕L"/>
              </a:rPr>
              <a:t>10</a:t>
            </a:r>
            <a:r>
              <a:rPr lang="ko-KR" altLang="en-US" sz="4000" b="1" spc="-150" dirty="0">
                <a:solidFill>
                  <a:srgbClr val="595959"/>
                </a:solidFill>
                <a:latin typeface="+mj-lt"/>
                <a:ea typeface="THE명품고딕L"/>
              </a:rPr>
              <a:t> </a:t>
            </a:r>
            <a:r>
              <a:rPr lang="en-US" altLang="ko-KR" sz="4000" b="1" spc="-150" dirty="0">
                <a:solidFill>
                  <a:srgbClr val="595959"/>
                </a:solidFill>
                <a:latin typeface="+mj-lt"/>
                <a:ea typeface="THE명품고딕L"/>
              </a:rPr>
              <a:t>PL/SQL</a:t>
            </a:r>
            <a:endParaRPr lang="ko-KR" altLang="en-US" sz="4000" b="1" spc="-150" dirty="0">
              <a:solidFill>
                <a:srgbClr val="595959"/>
              </a:solidFill>
              <a:latin typeface="+mj-lt"/>
              <a:ea typeface="THE명품고딕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8117036" y="513343"/>
            <a:ext cx="3656577" cy="36957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527769" y="2211262"/>
            <a:ext cx="5187231" cy="1884495"/>
            <a:chOff x="527769" y="1728426"/>
            <a:chExt cx="5187231" cy="1884495"/>
          </a:xfrm>
        </p:grpSpPr>
        <p:sp>
          <p:nvSpPr>
            <p:cNvPr id="18" name="TextBox 17"/>
            <p:cNvSpPr txBox="1"/>
            <p:nvPr/>
          </p:nvSpPr>
          <p:spPr>
            <a:xfrm>
              <a:off x="558060" y="3058923"/>
              <a:ext cx="1460656" cy="55399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 sz="3000" b="1" spc="-150" dirty="0">
                  <a:solidFill>
                    <a:schemeClr val="bg1">
                      <a:alpha val="70000"/>
                    </a:schemeClr>
                  </a:solidFill>
                  <a:latin typeface="+mj-lt"/>
                  <a:ea typeface="THE명품고딕L"/>
                </a:rPr>
                <a:t>PL/SQL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9" y="1728426"/>
              <a:ext cx="3164121" cy="130155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Part 1.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직사각형 18"/>
          <p:cNvSpPr/>
          <p:nvPr/>
        </p:nvSpPr>
        <p:spPr>
          <a:xfrm>
            <a:off x="9820275" y="6491287"/>
            <a:ext cx="2247900" cy="23812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953048" y="6334052"/>
            <a:ext cx="3238952" cy="523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131638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PL/SQL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58" name="표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628273"/>
              </p:ext>
            </p:extLst>
          </p:nvPr>
        </p:nvGraphicFramePr>
        <p:xfrm>
          <a:off x="380956" y="2063890"/>
          <a:ext cx="10222230" cy="435864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222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167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2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PL/SQL (Procedural Language extension to SQL)</a:t>
                      </a:r>
                      <a:endParaRPr lang="ko-KR" altLang="en-US" sz="2200" dirty="0">
                        <a:latin typeface="나눔고딕"/>
                        <a:ea typeface="나눔고딕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099">
                <a:tc>
                  <a:txBody>
                    <a:bodyPr/>
                    <a:lstStyle/>
                    <a:p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SQL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확장한 절차적 언어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(Procedural Language)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ko-K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관계형 데이터베이스에서 사용되는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Oracle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표준 데이터 </a:t>
                      </a:r>
                      <a:r>
                        <a:rPr lang="ko-KR" alt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엑세스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언어로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프로시저 생성자를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과 완벽하게 통합한다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ko-K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유저 프로세스가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PL/SQL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블록을 보내면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서버 프로세서는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PL/SQL Engine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 해당 블록을 받고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과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Procedural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나눠서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은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 Statement Executer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보낸다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ko-K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PL/SQL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프로그램의 종류는 크게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Procedure, Function, Trigger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나뉘어 진다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ko-K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 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오라클에서 지원하는 프로그래밍 언어의 특성을 수용하여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에서는 </a:t>
                      </a:r>
                      <a:r>
                        <a:rPr lang="ko-KR" alt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사용할수없는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절차적 프로그래밍 기능을 가지고 있어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단점을 보완하였다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br>
                        <a:rPr lang="ko-KR" altLang="en-US" dirty="0"/>
                      </a:br>
                      <a:endParaRPr lang="ko-KR" altLang="en-US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131638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PL/SQL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58" name="표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232375"/>
              </p:ext>
            </p:extLst>
          </p:nvPr>
        </p:nvGraphicFramePr>
        <p:xfrm>
          <a:off x="380956" y="2063890"/>
          <a:ext cx="10222230" cy="35814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222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167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장점</a:t>
                      </a:r>
                      <a:endParaRPr lang="ko-KR" altLang="en-US" sz="2500" dirty="0">
                        <a:latin typeface="나눔고딕"/>
                        <a:ea typeface="나눔고딕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099">
                <a:tc>
                  <a:txBody>
                    <a:bodyPr/>
                    <a:lstStyle/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프로시저 생성자와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통합</a:t>
                      </a:r>
                    </a:p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성능 향상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잘 만들어진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PL/SQL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명령문이라는 가정하에 좋아진다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모듈식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프로그램 개발 가능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논리적인 작업 을 진행하는 여러 명령어들을 하나의 블록을 만들 수 있다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이식성이 좋다</a:t>
                      </a:r>
                    </a:p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예외 처리 가능</a:t>
                      </a:r>
                    </a:p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=&gt;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또한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다음 단점을 해결 가능하다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변수가 없다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2)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한번에 하나의 명령문만 사용 가능하기 </a:t>
                      </a:r>
                      <a:r>
                        <a:rPr lang="ko-KR" alt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떄문에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트래픽이 상대적으로 증가한다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3)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제어문이 사용 불가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(IF, LOOP)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4)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예외처리가 없다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등등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6558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131638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PL/SQL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58" name="표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403692"/>
              </p:ext>
            </p:extLst>
          </p:nvPr>
        </p:nvGraphicFramePr>
        <p:xfrm>
          <a:off x="194310" y="1744752"/>
          <a:ext cx="11605804" cy="49530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1605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167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 dirty="0">
                          <a:latin typeface="나눔고딕"/>
                          <a:ea typeface="나눔고딕"/>
                        </a:rPr>
                        <a:t>기본특징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099">
                <a:tc>
                  <a:txBody>
                    <a:bodyPr/>
                    <a:lstStyle/>
                    <a:p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블록 단위의 실행을 제공한다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이를 위해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BEGIN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과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END;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사용한다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그리고 마지막 라인에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입력하면 해당 블록이 실행된다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변수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상수 등을 선언하여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과 절차형 언어에서 사용</a:t>
                      </a:r>
                    </a:p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변수의 선언은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DECLARE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절에서만 가능하다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그리고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BEGIN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섹션에서 새 값이 할당될 수 있다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IF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문을 사용하여 조건에 따라 문장들을 분기 가능</a:t>
                      </a:r>
                    </a:p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LOOP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문을 사용하여 일련의 문장을 반복 가능</a:t>
                      </a:r>
                    </a:p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커서를 사용하여 여러 행을 검색 및 처리</a:t>
                      </a:r>
                    </a:p>
                    <a:p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[ PL/SQL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 사용 가능한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은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Query, DML, TCL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]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DDL (CREATE, DROP, ALTER, TRUNCATE …), DCL (GRANT, REVOKE)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명령어는 동적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이용할 때만 사용 가능하다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[ PL/SQL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문은 해당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결과를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PL/SQL Engine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보낸다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]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이를 캐치하기 위한 변수를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DECLARE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해야 하고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INTO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절을 꼭 선언하여 넣을 변수를 꼭 표현해주어야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문장은 반드시 한 개의 행이 검색되어야 한다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그리고 이를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INTO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절을 꼭 사용해야한다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또한 검색되는 행이 없으면 문제가 발생한다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7628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131638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PL/SQL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58" name="표 57"/>
          <p:cNvGraphicFramePr>
            <a:graphicFrameLocks noGrp="1"/>
          </p:cNvGraphicFramePr>
          <p:nvPr/>
        </p:nvGraphicFramePr>
        <p:xfrm>
          <a:off x="380956" y="2063890"/>
          <a:ext cx="10222230" cy="1169539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222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167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 dirty="0">
                          <a:latin typeface="나눔고딕"/>
                          <a:ea typeface="나눔고딕"/>
                        </a:rPr>
                        <a:t>PL/SQL</a:t>
                      </a:r>
                      <a:endParaRPr lang="ko-KR" altLang="en-US" sz="2500" dirty="0">
                        <a:latin typeface="나눔고딕"/>
                        <a:ea typeface="나눔고딕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09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-</a:t>
                      </a:r>
                      <a:endParaRPr lang="ko-KR" altLang="en-US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4FDC04CF-E5C1-477D-9599-76C1999861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99" y="1609996"/>
            <a:ext cx="10501587" cy="508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959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131638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PL/SQL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58" name="표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470072"/>
              </p:ext>
            </p:extLst>
          </p:nvPr>
        </p:nvGraphicFramePr>
        <p:xfrm>
          <a:off x="380956" y="2063890"/>
          <a:ext cx="10222230" cy="248412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222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167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 dirty="0">
                          <a:latin typeface="나눔고딕"/>
                          <a:ea typeface="나눔고딕"/>
                        </a:rPr>
                        <a:t>PL/SQL BLOCK</a:t>
                      </a:r>
                      <a:r>
                        <a:rPr lang="ko-KR" altLang="en-US" sz="2500" dirty="0">
                          <a:latin typeface="나눔고딕"/>
                          <a:ea typeface="나눔고딕"/>
                        </a:rPr>
                        <a:t> 의 종류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099">
                <a:tc>
                  <a:txBody>
                    <a:bodyPr/>
                    <a:lstStyle/>
                    <a:p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익명 블록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이름이 없는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PL/SQL Block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말한다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ko-K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2)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이름 있는 블록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DB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객체로 저장되는 블록이 있다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프로시저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리턴 값을 하나 이상 가질 수 있는 프로그램을 말한다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함수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리턴 값을 반드시 반환해야 하는 프로그램을 말한다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패키지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하나 이상의 프로시저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함수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변수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예외 등의 묶음을 말한다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트리거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지정된 이벤트가 발생하면 자동으로 실행되는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PL/SQL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블록이다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233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131638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PL/SQL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58" name="표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879912"/>
              </p:ext>
            </p:extLst>
          </p:nvPr>
        </p:nvGraphicFramePr>
        <p:xfrm>
          <a:off x="380955" y="2063890"/>
          <a:ext cx="11477215" cy="166116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1477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167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 dirty="0">
                          <a:latin typeface="나눔고딕"/>
                          <a:ea typeface="나눔고딕"/>
                        </a:rPr>
                        <a:t>PL/SQL </a:t>
                      </a:r>
                      <a:r>
                        <a:rPr lang="ko-KR" altLang="en-US" sz="2500" dirty="0">
                          <a:latin typeface="나눔고딕"/>
                          <a:ea typeface="나눔고딕"/>
                        </a:rPr>
                        <a:t>작성요령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099">
                <a:tc>
                  <a:txBody>
                    <a:bodyPr/>
                    <a:lstStyle/>
                    <a:p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PL/SQL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블록 내에서는 한문장이 </a:t>
                      </a:r>
                      <a:r>
                        <a:rPr lang="ko-KR" alt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종료할때마다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세미콜론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(;)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사용하여 한문장이 </a:t>
                      </a:r>
                      <a:r>
                        <a:rPr lang="ko-KR" alt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끝났다는것을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명시</a:t>
                      </a:r>
                    </a:p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 END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뒤에 세미콜론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 ; )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사용하여 하나의 블록이 끝났다는 것을 명시</a:t>
                      </a:r>
                    </a:p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 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단일행주석은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이고 </a:t>
                      </a:r>
                      <a:r>
                        <a:rPr lang="ko-KR" alt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여러행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주석은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/* */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입니다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 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쿼리문을 수행하기 위해서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'/'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반드시 입력되어야 하며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PL/SQL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블록은 행에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'/'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있으면 </a:t>
                      </a:r>
                      <a:r>
                        <a:rPr lang="ko-KR" alt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종결된것으로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간주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A0F5F2F-13C5-464B-8AFD-89BBCAF31D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699565"/>
              </p:ext>
            </p:extLst>
          </p:nvPr>
        </p:nvGraphicFramePr>
        <p:xfrm>
          <a:off x="380954" y="4245885"/>
          <a:ext cx="11477215" cy="19354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1477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167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 dirty="0">
                          <a:latin typeface="나눔고딕"/>
                          <a:ea typeface="나눔고딕"/>
                        </a:rPr>
                        <a:t>참고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099">
                <a:tc>
                  <a:txBody>
                    <a:bodyPr/>
                    <a:lstStyle/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오라클에서 화면 출력을 위해서는 </a:t>
                      </a:r>
                      <a:r>
                        <a:rPr lang="en-US" altLang="ko-K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PUT_LINE</a:t>
                      </a:r>
                      <a:r>
                        <a:rPr lang="ko-KR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이란 프로시저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이용 </a:t>
                      </a:r>
                    </a:p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DBMS_OUTPUT.PUT_LINE(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출력할 내용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같이 사용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위 프로시저를 사용하여 출력되는 내용을 화면에 보여주기 위해서는 환경 변수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SERVEROUTPUT(</a:t>
                      </a:r>
                      <a:r>
                        <a:rPr lang="ko-KR" alt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디폴트값이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OFF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이므로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ON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변경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 </a:t>
                      </a:r>
                      <a:r>
                        <a:rPr lang="en-US" altLang="ko-K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 </a:t>
                      </a:r>
                      <a:r>
                        <a:rPr lang="en-US" altLang="ko-KR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serveroutput</a:t>
                      </a:r>
                      <a:r>
                        <a:rPr lang="en-US" altLang="ko-K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ON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2751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131638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PL/SQL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E575B260-BFE9-4538-88AA-53C9EEFE46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" y="1808922"/>
            <a:ext cx="5538833" cy="465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138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131638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PL/SQL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E6F28104-1DEF-48D2-B0ED-C2B678ABD4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8300"/>
            <a:ext cx="9685859" cy="494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088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131638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PL/SQL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100D2AC6-6C68-4851-957F-5EEC141048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4301"/>
            <a:ext cx="7660355" cy="518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422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131638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PL/SQL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3AE4A5C3-F02F-48E8-90AB-AA46BCC24C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4301"/>
            <a:ext cx="6096000" cy="509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061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131638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PL/SQL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D930C8EC-F088-4C28-9C4E-75EF3315E7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8300"/>
            <a:ext cx="11684187" cy="3557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03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131638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PL/SQL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04D91719-1400-466F-8527-3FF706B752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638300"/>
            <a:ext cx="9532137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540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131638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PL/SQL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89298309-07E8-4035-998F-155F259A14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8300"/>
            <a:ext cx="6255657" cy="517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515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131638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PL/SQL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5EC28D6C-7128-4A12-A38A-6F9F9CFFC9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3791"/>
            <a:ext cx="9205374" cy="525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933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131638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PL/SQL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92989E3C-9BDE-408C-984F-136116F5F6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4301"/>
            <a:ext cx="11763176" cy="3739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056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8117036" y="513343"/>
            <a:ext cx="3656577" cy="36957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583464" y="3541759"/>
            <a:ext cx="3841851" cy="7521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4400" b="1" spc="-150">
                <a:solidFill>
                  <a:schemeClr val="bg1">
                    <a:alpha val="70000"/>
                  </a:schemeClr>
                </a:solidFill>
                <a:latin typeface="+mj-lt"/>
                <a:ea typeface="THE명품고딕L"/>
              </a:rPr>
              <a:t>고생하셨습니다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767" y="2211262"/>
            <a:ext cx="3068873" cy="13015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8000" b="1" spc="-150"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atin typeface="+mj-lt"/>
                <a:ea typeface="THE명품고딕L"/>
              </a:rPr>
              <a:t>E N</a:t>
            </a:r>
            <a:r>
              <a:rPr lang="ko-KR" altLang="en-US" sz="8000" b="1" spc="-150"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atin typeface="+mj-lt"/>
                <a:ea typeface="THE명품고딕L"/>
              </a:rPr>
              <a:t> </a:t>
            </a:r>
            <a:r>
              <a:rPr lang="en-US" altLang="ko-KR" sz="8000" b="1" spc="-150"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atin typeface="+mj-lt"/>
                <a:ea typeface="THE명품고딕L"/>
              </a:rPr>
              <a:t>D.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635000" y="3429236"/>
            <a:ext cx="50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953048" y="6334052"/>
            <a:ext cx="3238952" cy="523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오늘의 PPT 색상 테마 008">
      <a:dk1>
        <a:sysClr val="windowText" lastClr="000000"/>
      </a:dk1>
      <a:lt1>
        <a:sysClr val="window" lastClr="FFFFFF"/>
      </a:lt1>
      <a:dk2>
        <a:srgbClr val="3A3838"/>
      </a:dk2>
      <a:lt2>
        <a:srgbClr val="E7E6E6"/>
      </a:lt2>
      <a:accent1>
        <a:srgbClr val="75A99E"/>
      </a:accent1>
      <a:accent2>
        <a:srgbClr val="49A6A6"/>
      </a:accent2>
      <a:accent3>
        <a:srgbClr val="E1E6D7"/>
      </a:accent3>
      <a:accent4>
        <a:srgbClr val="5F5E58"/>
      </a:accent4>
      <a:accent5>
        <a:srgbClr val="544F4D"/>
      </a:accent5>
      <a:accent6>
        <a:srgbClr val="E0EAF7"/>
      </a:accent6>
      <a:hlink>
        <a:srgbClr val="FCBB04"/>
      </a:hlink>
      <a:folHlink>
        <a:srgbClr val="FCBB04"/>
      </a:folHlink>
    </a:clrScheme>
    <a:fontScheme name="free">
      <a:majorFont>
        <a:latin typeface="Arial"/>
        <a:ea typeface="나눔스퀘어라운드 Regular"/>
        <a:cs typeface=""/>
      </a:majorFont>
      <a:minorFont>
        <a:latin typeface="Arial"/>
        <a:ea typeface="나눔스퀘어라운드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728</Words>
  <Application>Microsoft Office PowerPoint</Application>
  <PresentationFormat>와이드스크린</PresentationFormat>
  <Paragraphs>121</Paragraphs>
  <Slides>18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나눔고딕</vt:lpstr>
      <vt:lpstr>나눔스퀘어라운드 Regular</vt:lpstr>
      <vt:lpstr>함초롬돋움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Saebyeol Yu</dc:creator>
  <cp:lastModifiedBy>정 우균</cp:lastModifiedBy>
  <cp:revision>597</cp:revision>
  <dcterms:created xsi:type="dcterms:W3CDTF">2015-07-07T04:48:58Z</dcterms:created>
  <dcterms:modified xsi:type="dcterms:W3CDTF">2022-04-30T10:14:42Z</dcterms:modified>
  <cp:version>1000.0000.01</cp:version>
</cp:coreProperties>
</file>