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8"/>
  </p:notesMasterIdLst>
  <p:sldIdLst>
    <p:sldId id="256" r:id="rId2"/>
    <p:sldId id="257" r:id="rId3"/>
    <p:sldId id="259" r:id="rId4"/>
    <p:sldId id="260" r:id="rId5"/>
    <p:sldId id="302" r:id="rId6"/>
    <p:sldId id="303" r:id="rId7"/>
    <p:sldId id="301" r:id="rId8"/>
    <p:sldId id="299" r:id="rId9"/>
    <p:sldId id="300" r:id="rId10"/>
    <p:sldId id="270" r:id="rId11"/>
    <p:sldId id="271" r:id="rId12"/>
    <p:sldId id="272" r:id="rId13"/>
    <p:sldId id="273" r:id="rId14"/>
    <p:sldId id="274" r:id="rId15"/>
    <p:sldId id="266" r:id="rId16"/>
    <p:sldId id="290" r:id="rId17"/>
    <p:sldId id="291" r:id="rId18"/>
    <p:sldId id="292" r:id="rId19"/>
    <p:sldId id="293" r:id="rId20"/>
    <p:sldId id="295" r:id="rId21"/>
    <p:sldId id="296" r:id="rId22"/>
    <p:sldId id="297" r:id="rId23"/>
    <p:sldId id="298" r:id="rId24"/>
    <p:sldId id="294" r:id="rId25"/>
    <p:sldId id="276" r:id="rId26"/>
    <p:sldId id="277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304" r:id="rId36"/>
    <p:sldId id="287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9" autoAdjust="0"/>
    <p:restoredTop sz="88290"/>
  </p:normalViewPr>
  <p:slideViewPr>
    <p:cSldViewPr snapToGrid="0" showGuides="1">
      <p:cViewPr varScale="1">
        <p:scale>
          <a:sx n="73" d="100"/>
          <a:sy n="73" d="100"/>
        </p:scale>
        <p:origin x="1330" y="53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720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331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723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294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5133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9239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183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6885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81406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6124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803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76425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8119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67485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19678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4/27/2022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613986"/>
            <a:ext cx="7323663" cy="7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500" b="1" spc="-150">
                <a:solidFill>
                  <a:srgbClr val="595959"/>
                </a:solidFill>
                <a:latin typeface="+mj-lt"/>
                <a:ea typeface="THE명품고딕L"/>
              </a:rPr>
              <a:t>05</a:t>
            </a:r>
            <a:r>
              <a:rPr lang="ko-KR" altLang="en-US" sz="4500" b="1" spc="-150">
                <a:solidFill>
                  <a:srgbClr val="595959"/>
                </a:solidFill>
                <a:latin typeface="+mj-lt"/>
                <a:ea typeface="THE명품고딕L"/>
              </a:rPr>
              <a:t> </a:t>
            </a:r>
            <a:r>
              <a:rPr lang="en-US" altLang="ko-KR" sz="4500" b="1" spc="-150">
                <a:solidFill>
                  <a:srgbClr val="595959"/>
                </a:solidFill>
                <a:latin typeface="+mj-lt"/>
                <a:ea typeface="THE명품고딕L"/>
              </a:rPr>
              <a:t>SELECT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46432"/>
            <a:chOff x="527768" y="1560897"/>
            <a:chExt cx="5187232" cy="2193986"/>
          </a:xfrm>
        </p:grpSpPr>
        <p:sp>
          <p:nvSpPr>
            <p:cNvPr id="18" name="TextBox 17"/>
            <p:cNvSpPr txBox="1"/>
            <p:nvPr/>
          </p:nvSpPr>
          <p:spPr>
            <a:xfrm>
              <a:off x="558045" y="3058913"/>
              <a:ext cx="5035889" cy="695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rgbClr val="808080"/>
                  </a:solidFill>
                  <a:latin typeface="+mj-lt"/>
                  <a:ea typeface="THE명품고딕L"/>
                </a:rPr>
                <a:t>DDL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4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 dirty="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1.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2247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 dirty="0">
                <a:solidFill>
                  <a:schemeClr val="accent4"/>
                </a:solidFill>
              </a:rP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151" y="661919"/>
            <a:ext cx="412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 dirty="0">
                <a:solidFill>
                  <a:schemeClr val="accent4"/>
                </a:solidFill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12336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SQL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 의 분류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51" name="TextBox 67"/>
          <p:cNvSpPr txBox="1"/>
          <p:nvPr/>
        </p:nvSpPr>
        <p:spPr>
          <a:xfrm>
            <a:off x="1000876" y="2545320"/>
            <a:ext cx="919364" cy="54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>
                <a:solidFill>
                  <a:schemeClr val="accent4"/>
                </a:solidFill>
                <a:latin typeface="나눔고딕"/>
                <a:ea typeface="나눔고딕"/>
              </a:rPr>
              <a:t>DDL</a:t>
            </a:r>
          </a:p>
        </p:txBody>
      </p:sp>
      <p:sp>
        <p:nvSpPr>
          <p:cNvPr id="52" name="TextBox 18"/>
          <p:cNvSpPr txBox="1"/>
          <p:nvPr/>
        </p:nvSpPr>
        <p:spPr>
          <a:xfrm>
            <a:off x="2730655" y="2306199"/>
            <a:ext cx="7571683" cy="99707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- Data Definition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 </a:t>
            </a: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Language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- 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데이터베이스 개체를 생성</a:t>
            </a: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/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삭제</a:t>
            </a: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/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변경하는 역할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-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 </a:t>
            </a: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CREATE , DROP , ALTER....</a:t>
            </a:r>
          </a:p>
        </p:txBody>
      </p:sp>
      <p:sp>
        <p:nvSpPr>
          <p:cNvPr id="54" name="TextBox 67"/>
          <p:cNvSpPr txBox="1"/>
          <p:nvPr/>
        </p:nvSpPr>
        <p:spPr>
          <a:xfrm>
            <a:off x="1031680" y="3984608"/>
            <a:ext cx="1020288" cy="547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>
                <a:solidFill>
                  <a:schemeClr val="accent4"/>
                </a:solidFill>
                <a:latin typeface="나눔고딕"/>
                <a:ea typeface="나눔고딕"/>
              </a:rPr>
              <a:t>DML</a:t>
            </a:r>
          </a:p>
        </p:txBody>
      </p:sp>
      <p:sp>
        <p:nvSpPr>
          <p:cNvPr id="56" name="TextBox 67"/>
          <p:cNvSpPr txBox="1"/>
          <p:nvPr/>
        </p:nvSpPr>
        <p:spPr>
          <a:xfrm>
            <a:off x="1031680" y="5393092"/>
            <a:ext cx="905988" cy="5486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>
                <a:solidFill>
                  <a:schemeClr val="accent4"/>
                </a:solidFill>
                <a:latin typeface="나눔고딕"/>
                <a:ea typeface="나눔고딕"/>
              </a:rPr>
              <a:t>DCL</a:t>
            </a:r>
          </a:p>
        </p:txBody>
      </p:sp>
      <p:sp>
        <p:nvSpPr>
          <p:cNvPr id="57" name="TextBox 18"/>
          <p:cNvSpPr txBox="1"/>
          <p:nvPr/>
        </p:nvSpPr>
        <p:spPr>
          <a:xfrm>
            <a:off x="2730674" y="3743865"/>
            <a:ext cx="7571684" cy="9976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- Data Manipulation Language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-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 데이터를 조작</a:t>
            </a: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(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선택</a:t>
            </a: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,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삽입</a:t>
            </a: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,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수정</a:t>
            </a: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,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삭제</a:t>
            </a: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)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 하는데 사용되는 언어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-</a:t>
            </a:r>
            <a:r>
              <a:rPr lang="ko-KR" altLang="en-US" sz="2000" dirty="0">
                <a:solidFill>
                  <a:schemeClr val="accent4"/>
                </a:solidFill>
                <a:latin typeface="나눔고딕"/>
                <a:ea typeface="나눔고딕"/>
              </a:rPr>
              <a:t> </a:t>
            </a:r>
            <a:r>
              <a:rPr lang="en-US" altLang="ko-KR" sz="2000" dirty="0">
                <a:solidFill>
                  <a:schemeClr val="accent4"/>
                </a:solidFill>
                <a:latin typeface="나눔고딕"/>
                <a:ea typeface="나눔고딕"/>
              </a:rPr>
              <a:t>SELECT , INSERT,UPDATE,DELETE..</a:t>
            </a:r>
          </a:p>
        </p:txBody>
      </p:sp>
      <p:sp>
        <p:nvSpPr>
          <p:cNvPr id="58" name="TextBox 18"/>
          <p:cNvSpPr txBox="1"/>
          <p:nvPr/>
        </p:nvSpPr>
        <p:spPr>
          <a:xfrm>
            <a:off x="2730674" y="5325014"/>
            <a:ext cx="7571684" cy="9976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- Data Control Language</a:t>
            </a:r>
          </a:p>
          <a:p>
            <a:pPr lvl="0">
              <a:defRPr/>
            </a:pP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- </a:t>
            </a:r>
            <a:r>
              <a:rPr lang="ko-KR" altLang="en-US" sz="2000">
                <a:solidFill>
                  <a:schemeClr val="accent4"/>
                </a:solidFill>
                <a:latin typeface="나눔고딕"/>
                <a:ea typeface="나눔고딕"/>
              </a:rPr>
              <a:t>권한부여</a:t>
            </a: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/</a:t>
            </a:r>
            <a:r>
              <a:rPr lang="ko-KR" altLang="en-US" sz="2000">
                <a:solidFill>
                  <a:schemeClr val="accent4"/>
                </a:solidFill>
                <a:latin typeface="나눔고딕"/>
                <a:ea typeface="나눔고딕"/>
              </a:rPr>
              <a:t>철회에 사용되는 구문</a:t>
            </a:r>
          </a:p>
          <a:p>
            <a:pPr lvl="0">
              <a:defRPr/>
            </a:pP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-</a:t>
            </a:r>
            <a:r>
              <a:rPr lang="ko-KR" altLang="en-US" sz="2000">
                <a:solidFill>
                  <a:schemeClr val="accent4"/>
                </a:solidFill>
                <a:latin typeface="나눔고딕"/>
                <a:ea typeface="나눔고딕"/>
              </a:rPr>
              <a:t> </a:t>
            </a:r>
            <a:r>
              <a:rPr lang="en-US" altLang="ko-KR" sz="2000">
                <a:solidFill>
                  <a:schemeClr val="accent4"/>
                </a:solidFill>
                <a:latin typeface="나눔고딕"/>
                <a:ea typeface="나눔고딕"/>
              </a:rPr>
              <a:t>GRANT/REVOKE/DENY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766661" y="2309913"/>
            <a:ext cx="1398351" cy="92210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3200" dirty="0">
                <a:solidFill>
                  <a:srgbClr val="FFFFFF"/>
                </a:solidFill>
                <a:latin typeface="나눔고딕"/>
                <a:ea typeface="나눔고딕"/>
              </a:rPr>
              <a:t>DDL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784901" y="3746162"/>
            <a:ext cx="1398351" cy="92210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3200">
                <a:solidFill>
                  <a:srgbClr val="FFFFFF"/>
                </a:solidFill>
                <a:latin typeface="나눔고딕"/>
                <a:ea typeface="나눔고딕"/>
              </a:rPr>
              <a:t>DML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774767" y="5331162"/>
            <a:ext cx="1398351" cy="92210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3200">
                <a:solidFill>
                  <a:srgbClr val="FFFFFF"/>
                </a:solidFill>
                <a:latin typeface="나눔고딕"/>
                <a:ea typeface="나눔고딕"/>
              </a:rPr>
              <a:t>DCL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151" y="661919"/>
            <a:ext cx="412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 dirty="0">
                <a:solidFill>
                  <a:schemeClr val="accent4"/>
                </a:solidFill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39681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Oracle 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자료형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AF77960-616E-4018-85E7-C94AB6EA5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82" y="1965833"/>
            <a:ext cx="10886176" cy="26061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151" y="661919"/>
            <a:ext cx="412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 dirty="0">
                <a:solidFill>
                  <a:schemeClr val="accent4"/>
                </a:solidFill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39681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Oracle 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자료형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C16E251-9DDB-4CB8-B12C-AA23BCDC4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37" y="1746429"/>
            <a:ext cx="6464514" cy="494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3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151" y="661919"/>
            <a:ext cx="412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 dirty="0">
                <a:solidFill>
                  <a:schemeClr val="accent4"/>
                </a:solidFill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39681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Oracle 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자료형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5E2477BD-3148-4F68-A6D4-138F4DA8A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51" y="1863190"/>
            <a:ext cx="8435099" cy="458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5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151" y="661919"/>
            <a:ext cx="412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 dirty="0">
                <a:solidFill>
                  <a:schemeClr val="accent4"/>
                </a:solidFill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39681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Oracle 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자료형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B2AD5D4-ACCE-4B97-9D6A-6960C8B14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44" y="1638300"/>
            <a:ext cx="6149873" cy="50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151" y="661919"/>
            <a:ext cx="412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 dirty="0">
                <a:solidFill>
                  <a:schemeClr val="accent4"/>
                </a:solidFill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86273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DDL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1599" y="1750235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BE91A0F3-B705-4CAE-8378-B03214F3C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1674301"/>
            <a:ext cx="8432360" cy="494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6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151" y="661919"/>
            <a:ext cx="412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 dirty="0">
                <a:solidFill>
                  <a:schemeClr val="accent4"/>
                </a:solidFill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86273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DDL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1599" y="1750235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50A0E376-D4DD-428F-8067-C7FC2A1D3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1674301"/>
            <a:ext cx="8563512" cy="502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1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46432"/>
            <a:chOff x="527768" y="1560897"/>
            <a:chExt cx="5187232" cy="2193986"/>
          </a:xfrm>
        </p:grpSpPr>
        <p:sp>
          <p:nvSpPr>
            <p:cNvPr id="18" name="TextBox 17"/>
            <p:cNvSpPr txBox="1"/>
            <p:nvPr/>
          </p:nvSpPr>
          <p:spPr>
            <a:xfrm>
              <a:off x="558045" y="3058913"/>
              <a:ext cx="5035889" cy="695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 dirty="0">
                  <a:solidFill>
                    <a:srgbClr val="808080"/>
                  </a:solidFill>
                  <a:latin typeface="+mj-lt"/>
                  <a:ea typeface="THE명품고딕L"/>
                </a:rPr>
                <a:t>DML</a:t>
              </a:r>
              <a:endParaRPr lang="ko-KR" altLang="en-US" sz="3000" b="1" spc="-150" dirty="0">
                <a:solidFill>
                  <a:srgbClr val="808080"/>
                </a:solidFill>
                <a:latin typeface="+mj-lt"/>
                <a:ea typeface="THE명품고딕L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625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 dirty="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2.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9" y="654596"/>
            <a:ext cx="359974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실습용</a:t>
            </a: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DB/TBL</a:t>
            </a: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 만들기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232898"/>
              </p:ext>
            </p:extLst>
          </p:nvPr>
        </p:nvGraphicFramePr>
        <p:xfrm>
          <a:off x="194310" y="2129596"/>
          <a:ext cx="11342370" cy="40309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34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33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 -- 회원테이블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CHAR(8) NOT NULL PRIMARY KEY, --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사용자아이디</a:t>
                      </a:r>
                      <a:endParaRPr lang="ko-KR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NVARCHAR(10) NOT NULL, -- 이름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birthYear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INT NOT NULL, -- 출생년도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addr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NCHAR(2) NOT NULL, --지역(2글자만 입력,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경남,서울,경기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..)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mobile1 CHAR(3), -- 휴대폰의 국번(011,016...)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mobile2 CHAR(8), -- 휴대폰의 나머지 전화번호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SMALLINT, -- 키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mDate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DATE --회원가입일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9" y="654596"/>
            <a:ext cx="359974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실습용</a:t>
            </a: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DB/TBL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만들기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099687"/>
              </p:ext>
            </p:extLst>
          </p:nvPr>
        </p:nvGraphicFramePr>
        <p:xfrm>
          <a:off x="198606" y="1980071"/>
          <a:ext cx="8086400" cy="347853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80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08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CREATE TABLE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 --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회원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구매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테이블</a:t>
                      </a:r>
                      <a:endParaRPr 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num INT  NOT NULL PRIMARY KEY, --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순번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(PK) </a:t>
                      </a:r>
                    </a:p>
                    <a:p>
                      <a:pPr>
                        <a:defRPr/>
                      </a:pP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CHAR(8) NOT NULL, --</a:t>
                      </a:r>
                    </a:p>
                    <a:p>
                      <a:pPr>
                        <a:defRPr/>
                      </a:pP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prodName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CHAR(6) NOT NULL, --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물품명</a:t>
                      </a:r>
                      <a:endParaRPr 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groupName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CHAR(4), --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분류</a:t>
                      </a:r>
                      <a:endParaRPr 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price INT NOT NULL, --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단가</a:t>
                      </a:r>
                      <a:endParaRPr 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amount SMALLINT NOT NULL, --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수량</a:t>
                      </a:r>
                      <a:endParaRPr 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FOREIGN KEY (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 REFERENCES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538412" y="2015490"/>
            <a:ext cx="7115175" cy="36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9" y="654596"/>
            <a:ext cx="359974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실습용</a:t>
            </a: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DB/TBL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만들기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198606" y="2046746"/>
          <a:ext cx="11604774" cy="353825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604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75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userTbl 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값삽입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249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VALUES('LSG','이승기',1987,'서울','011','1111111',182,'2008-8-8');</a:t>
                      </a:r>
                    </a:p>
                    <a:p>
                      <a:pPr>
                        <a:defRPr/>
                      </a:pP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VALUES('KBS','김범수',1979,'경남','011','2222222',173,'2012-4-4');</a:t>
                      </a:r>
                    </a:p>
                    <a:p>
                      <a:pPr>
                        <a:defRPr/>
                      </a:pP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VALUES('KKH','김경호',1971,'전남','019','3333333',177,'2007-7-7');</a:t>
                      </a:r>
                    </a:p>
                    <a:p>
                      <a:pPr>
                        <a:defRPr/>
                      </a:pP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VALUES('JYP','조용필',1950,'경기','011','4444444',166,'2009-4-4');</a:t>
                      </a:r>
                    </a:p>
                    <a:p>
                      <a:pPr>
                        <a:defRPr/>
                      </a:pP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VALUES('SSK','성시경',1979,'서울',NULL,NULL,186,'2013-12-12');</a:t>
                      </a:r>
                    </a:p>
                    <a:p>
                      <a:pPr>
                        <a:defRPr/>
                      </a:pP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VALUES('LJB','임재범',1963,'서울','016','6666666',182,'2009-9-9');</a:t>
                      </a:r>
                    </a:p>
                    <a:p>
                      <a:pPr>
                        <a:defRPr/>
                      </a:pP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VALUES('YJS','윤종신',1969,'경남',NULL,NULL,170,'2005-5-5');</a:t>
                      </a:r>
                    </a:p>
                    <a:p>
                      <a:pPr>
                        <a:defRPr/>
                      </a:pP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VALUES('EJW','은지원',1972,'경북','011','8888888',174,'2014-3-3');</a:t>
                      </a:r>
                    </a:p>
                    <a:p>
                      <a:pPr>
                        <a:defRPr/>
                      </a:pP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VALUES('JKW','조관우',1965,'경기','018','9999999',172,'2010-10-10');</a:t>
                      </a:r>
                    </a:p>
                    <a:p>
                      <a:pPr>
                        <a:defRPr/>
                      </a:pP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VALUES('BBK','바비킴',1973,'서울','010','0000000',176,'2013-5-5');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538412" y="2015490"/>
            <a:ext cx="7115175" cy="36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9" y="654596"/>
            <a:ext cx="359974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실습용</a:t>
            </a: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DB/TBL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만들기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061187"/>
              </p:ext>
            </p:extLst>
          </p:nvPr>
        </p:nvGraphicFramePr>
        <p:xfrm>
          <a:off x="198606" y="2046746"/>
          <a:ext cx="11603355" cy="40233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603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75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buyTbl 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값삽입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249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VALUES(1,'KBS','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운동화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NULL,30,2);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VALUES(2,'KBS','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노트북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전자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',1000,1);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VALUES(3,'JYP','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모니터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전자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',200,1);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VALUES(4,'BBK','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모니터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전자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',200,5);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VALUES(5,'KBS','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청바지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의류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',50,3);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VALUES(6,'BBK','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메모리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전자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',80,10);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VALUES(7,'SSK','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책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서적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',15,5);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VALUES(8,'EJW','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책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서적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',15,2);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VALUES(9,'EJW','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청바지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의류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',50,1);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VALUES(10,'BBK','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운동화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NULL,30,2);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VALUES(11,'EJW','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책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서적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',15,1);</a:t>
                      </a:r>
                    </a:p>
                    <a:p>
                      <a:pPr>
                        <a:defRPr/>
                      </a:pP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INSERT INTO </a:t>
                      </a:r>
                      <a:r>
                        <a:rPr 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buyTbl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VALUES(12,'BBK','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운동화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',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NULL,30,2);</a:t>
                      </a:r>
                    </a:p>
                    <a:p>
                      <a:pPr>
                        <a:defRPr/>
                      </a:pPr>
                      <a:endParaRPr 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538412" y="2015490"/>
            <a:ext cx="7115175" cy="36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54246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USE / SELECT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B604B8-6565-4277-9287-2F374A4D14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53" y="2541232"/>
            <a:ext cx="11251247" cy="1375544"/>
          </a:xfrm>
          <a:prstGeom prst="rect">
            <a:avLst/>
          </a:prstGeom>
        </p:spPr>
      </p:pic>
      <p:sp>
        <p:nvSpPr>
          <p:cNvPr id="16" name="TextBox 67">
            <a:extLst>
              <a:ext uri="{FF2B5EF4-FFF2-40B4-BE49-F238E27FC236}">
                <a16:creationId xmlns:a16="http://schemas.microsoft.com/office/drawing/2014/main" id="{3F9A4693-4CEA-42D1-BEE1-6FCBCBF808A2}"/>
              </a:ext>
            </a:extLst>
          </p:cNvPr>
          <p:cNvSpPr txBox="1"/>
          <p:nvPr/>
        </p:nvSpPr>
        <p:spPr>
          <a:xfrm>
            <a:off x="331153" y="2129596"/>
            <a:ext cx="34806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※ </a:t>
            </a:r>
            <a:r>
              <a:rPr lang="ko-KR" altLang="en-US" sz="3000" dirty="0">
                <a:solidFill>
                  <a:schemeClr val="accent4"/>
                </a:solidFill>
                <a:latin typeface="안상수2006가는"/>
                <a:ea typeface="안상수2006가는"/>
              </a:rPr>
              <a:t>테이블 조회하기</a:t>
            </a:r>
            <a:endParaRPr lang="en-US" altLang="ko-KR" sz="3000" dirty="0">
              <a:solidFill>
                <a:schemeClr val="accent4"/>
              </a:solidFill>
              <a:latin typeface="안상수2006가는"/>
              <a:ea typeface="안상수2006가는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5BBC92-8619-4134-A684-AE5540077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708273"/>
            <a:ext cx="7643522" cy="57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8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54246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USE / SELECT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39BAE437-5DA5-46F6-99E9-86EFBB8EB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890110"/>
            <a:ext cx="7437765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1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54246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USE / SELECT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98825193-F493-43BE-B5F1-142A1804F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03" y="1852841"/>
            <a:ext cx="7552074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8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54246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USE / SELECT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2C5C8723-7C2C-406D-AB49-125916AAA4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746429"/>
            <a:ext cx="7666384" cy="467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4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54246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USE / SELECT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5312CFC9-FF87-4C10-86F0-8B0BB6928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746429"/>
            <a:ext cx="7643522" cy="395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8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54246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USE / SELECT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7395DC4-99F5-4AA1-859D-5FE6A42AE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746429"/>
            <a:ext cx="7734970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54246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 dirty="0">
                <a:solidFill>
                  <a:schemeClr val="accent4"/>
                </a:solidFill>
                <a:latin typeface="+mj-ea"/>
                <a:ea typeface="+mj-ea"/>
              </a:rPr>
              <a:t>USE / SELECT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3BB4BEED-D021-4C43-8E6F-2ECA40E5F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198245"/>
            <a:ext cx="7742591" cy="549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6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54246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USE / SELECT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1D3E90CC-37BA-408D-B8F1-8D118A535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6" y="1900997"/>
            <a:ext cx="7658764" cy="44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4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54246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USE / SELECT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7E1CBDC-528C-42D8-B554-7852BC2C0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746429"/>
            <a:ext cx="7696867" cy="31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4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38953"/>
            <a:chOff x="527768" y="1560897"/>
            <a:chExt cx="5187232" cy="2184590"/>
          </a:xfrm>
        </p:grpSpPr>
        <p:sp>
          <p:nvSpPr>
            <p:cNvPr id="18" name="TextBox 17"/>
            <p:cNvSpPr txBox="1"/>
            <p:nvPr/>
          </p:nvSpPr>
          <p:spPr>
            <a:xfrm>
              <a:off x="558045" y="3058913"/>
              <a:ext cx="5035889" cy="6865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SELECT</a:t>
              </a:r>
              <a:r>
                <a:rPr lang="ko-KR" altLang="en-US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 옵션</a:t>
              </a: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01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4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3.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71" y="654596"/>
            <a:ext cx="2542469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USE / SELECT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452430"/>
              </p:ext>
            </p:extLst>
          </p:nvPr>
        </p:nvGraphicFramePr>
        <p:xfrm>
          <a:off x="391132" y="1965276"/>
          <a:ext cx="10210193" cy="128206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1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where 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열이름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FROM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테이블이름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WHERE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조건</a:t>
                      </a:r>
                    </a:p>
                    <a:p>
                      <a:pPr>
                        <a:defRPr/>
                      </a:pP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*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from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  <a:p>
                      <a:pPr>
                        <a:defRPr/>
                      </a:pP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*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from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where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='김경호';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86FD96F-DC60-41B0-A8D7-68F805F01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76908"/>
              </p:ext>
            </p:extLst>
          </p:nvPr>
        </p:nvGraphicFramePr>
        <p:xfrm>
          <a:off x="391132" y="3993759"/>
          <a:ext cx="10210193" cy="15544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1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96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latin typeface="나눔고딕"/>
                          <a:ea typeface="나눔고딕"/>
                        </a:rPr>
                        <a:t>where 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조건 </a:t>
                      </a:r>
                      <a:r>
                        <a:rPr lang="en-US" altLang="ko-KR">
                          <a:latin typeface="나눔고딕"/>
                          <a:ea typeface="나눔고딕"/>
                        </a:rPr>
                        <a:t>+</a:t>
                      </a:r>
                      <a:r>
                        <a:rPr lang="ko-KR" altLang="en-US">
                          <a:latin typeface="나눔고딕"/>
                          <a:ea typeface="나눔고딕"/>
                        </a:rPr>
                        <a:t> 관계연산자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975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ko-KR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열이름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FROM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테이블이름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WHERE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조건</a:t>
                      </a:r>
                    </a:p>
                    <a:p>
                      <a:pPr>
                        <a:defRPr/>
                      </a:pPr>
                      <a:endParaRPr lang="en-US" alt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</a:t>
                      </a:r>
                      <a:r>
                        <a:rPr lang="en-US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birthyear &gt;=1970 and height&gt;=182;</a:t>
                      </a:r>
                    </a:p>
                    <a:p>
                      <a:pPr>
                        <a:defRPr/>
                      </a:pP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</a:t>
                      </a:r>
                      <a:r>
                        <a:rPr lang="en-US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birthyear &gt;=1970 or height&gt;=182;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9" y="654596"/>
            <a:ext cx="4780846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BETWEEN...AND / IN() / LIKE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566278"/>
              </p:ext>
            </p:extLst>
          </p:nvPr>
        </p:nvGraphicFramePr>
        <p:xfrm>
          <a:off x="562948" y="2127404"/>
          <a:ext cx="10276262" cy="84010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BETWEEN..AND - (-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에서 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사이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Name,height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height BETWEEN 180 AND 183;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863813"/>
              </p:ext>
            </p:extLst>
          </p:nvPr>
        </p:nvGraphicFramePr>
        <p:xfrm>
          <a:off x="553219" y="3728819"/>
          <a:ext cx="10276705" cy="838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7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IN() - (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비연속적 집합 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 문자열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16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Name,height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addr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IN('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경남','전남','경북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462884"/>
              </p:ext>
            </p:extLst>
          </p:nvPr>
        </p:nvGraphicFramePr>
        <p:xfrm>
          <a:off x="553624" y="5127575"/>
          <a:ext cx="10276705" cy="111633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27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LIKE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 sz="2500" dirty="0">
                          <a:latin typeface="나눔고딕"/>
                          <a:ea typeface="나눔고딕"/>
                        </a:rPr>
                        <a:t>문자열 내용 검색</a:t>
                      </a:r>
                      <a:r>
                        <a:rPr lang="en-US" altLang="ko-KR" sz="2500" dirty="0"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Name,height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LIKE '김%';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Name,height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LIKE '_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재범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8" y="654596"/>
            <a:ext cx="1685222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중간 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467191" y="2167935"/>
          <a:ext cx="3698416" cy="84010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698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Consolas"/>
                          <a:ea typeface="안상수2006가는"/>
                        </a:rPr>
                        <a:t>buyTbl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Consolas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3053" y="2649347"/>
            <a:ext cx="3686689" cy="3200846"/>
          </a:xfrm>
          <a:prstGeom prst="rect">
            <a:avLst/>
          </a:prstGeom>
        </p:spPr>
      </p:pic>
      <p:graphicFrame>
        <p:nvGraphicFramePr>
          <p:cNvPr id="67" name="표 66"/>
          <p:cNvGraphicFramePr>
            <a:graphicFrameLocks noGrp="1"/>
          </p:cNvGraphicFramePr>
          <p:nvPr/>
        </p:nvGraphicFramePr>
        <p:xfrm>
          <a:off x="4601852" y="2198739"/>
          <a:ext cx="7193279" cy="41657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193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1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Consolas"/>
                          <a:ea typeface="안상수2006가는"/>
                        </a:rPr>
                        <a:t>문제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022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1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구매양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(amount)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가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5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개 이상인 행을 출력</a:t>
                      </a:r>
                    </a:p>
                    <a:p>
                      <a:pPr>
                        <a:defRPr/>
                      </a:pPr>
                      <a:endParaRPr lang="ko-KR" altLang="en-US">
                        <a:solidFill>
                          <a:srgbClr val="808080"/>
                        </a:solidFill>
                        <a:latin typeface="Consolas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2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가격이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(price)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50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이상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500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이하인 행의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UserID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와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prodName   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  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만 출력</a:t>
                      </a:r>
                    </a:p>
                    <a:p>
                      <a:pPr>
                        <a:defRPr/>
                      </a:pPr>
                      <a:endParaRPr lang="ko-KR" altLang="en-US">
                        <a:solidFill>
                          <a:srgbClr val="808080"/>
                        </a:solidFill>
                        <a:latin typeface="Consolas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3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구매양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(price)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이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10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이상 이거나 가격이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100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이상인 행 출력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Consolas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4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UserID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가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K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로 시작하는 행 출력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Consolas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5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‘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서적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’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이거나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‘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전자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’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인 행 출력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Consolas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6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상품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(prodName)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이 책이거나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userID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가 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W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로 끝나는 행출력 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Consolas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7" y="654596"/>
            <a:ext cx="1685223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서브쿼리 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95251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503364" y="2160270"/>
          <a:ext cx="9201030" cy="111633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201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서브쿼리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쿼리 안에 쿼리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Name,height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WHERE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height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&lt; (SELECT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='김경호');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493636" y="4268335"/>
          <a:ext cx="9170631" cy="111633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170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서브쿼리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쿼리 안에 쿼리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-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하나이상값반환시 오류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Name,height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</a:p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WHERE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height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&lt; (SELECT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addr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='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경남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');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8" name="그림 5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9053" y="5738892"/>
            <a:ext cx="8640381" cy="3048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7" y="654596"/>
            <a:ext cx="1770948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ANY / ALL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674409" y="2421260"/>
          <a:ext cx="9203055" cy="111633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20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ANY - 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여러 결과중 한 가지만 만족해도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endParaRPr lang="ko-KR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&gt;= </a:t>
                      </a:r>
                      <a:r>
                        <a:rPr lang="ko-KR" altLang="ko-KR" b="1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ANY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(SELECT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addr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='경남');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715347" y="4367198"/>
          <a:ext cx="9203055" cy="111633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20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ALL - 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모두 만족 해야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Name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,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endParaRPr lang="ko-KR" altLang="ko-KR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&gt;= </a:t>
                      </a:r>
                      <a:r>
                        <a:rPr lang="en-US" altLang="ko-KR" b="1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ALL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(SELECT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height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ko-KR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addr</a:t>
                      </a:r>
                      <a:r>
                        <a:rPr lang="ko-KR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='경남');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8" y="654596"/>
            <a:ext cx="1685222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중간 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467191" y="2167935"/>
          <a:ext cx="3698416" cy="84010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698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buyTbl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3053" y="2649347"/>
            <a:ext cx="3686689" cy="3200846"/>
          </a:xfrm>
          <a:prstGeom prst="rect">
            <a:avLst/>
          </a:prstGeom>
        </p:spPr>
      </p:pic>
      <p:graphicFrame>
        <p:nvGraphicFramePr>
          <p:cNvPr id="67" name="표 66"/>
          <p:cNvGraphicFramePr>
            <a:graphicFrameLocks noGrp="1"/>
          </p:cNvGraphicFramePr>
          <p:nvPr/>
        </p:nvGraphicFramePr>
        <p:xfrm>
          <a:off x="4601852" y="2198739"/>
          <a:ext cx="7193280" cy="30684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19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1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문제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022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1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amount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가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10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인 행의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price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보다 큰 행을 출력하세요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서브쿼리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)</a:t>
                      </a:r>
                    </a:p>
                    <a:p>
                      <a:pPr>
                        <a:defRPr/>
                      </a:pPr>
                      <a:endParaRPr lang="ko-KR" altLang="en-US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2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userID 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가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K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로 시작하는 행의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amount 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보다 큰 행을 출력하세요</a:t>
                      </a:r>
                    </a:p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서브쿼리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+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ANY)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3 amount 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가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5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인 행의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price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보다 큰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행을 출력하세요</a:t>
                      </a:r>
                    </a:p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서브쿼리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+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ALL)</a:t>
                      </a: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5" y="654596"/>
            <a:ext cx="2028125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ORDER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</a:t>
            </a: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BY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613611" y="2198334"/>
          <a:ext cx="9203055" cy="923457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20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92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ORDER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BY - 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정렬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(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기본 오름차순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01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Name ,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mDate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ORDER BY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mDate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634284" y="3641792"/>
          <a:ext cx="9203055" cy="838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20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ORDER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BY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DESC -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내림차순 정렬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SELECT Name ,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mDate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ORDER BY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mDate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DESC;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614423" y="5283740"/>
          <a:ext cx="9203055" cy="838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20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ORDER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BY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SELECT Name, height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ORDER BY height DESC, name ASC;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4" y="654596"/>
            <a:ext cx="2933001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DISTINCT</a:t>
            </a: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 </a:t>
            </a: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/ LIMIT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36904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623744" y="2257892"/>
          <a:ext cx="9203055" cy="923457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20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92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DISTINCT - 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중복 제거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01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SELECT </a:t>
                      </a:r>
                      <a:r>
                        <a:rPr lang="en-US" altLang="ko-KR" b="1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DISTINCT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addr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</a:t>
                      </a:r>
                      <a:r>
                        <a:rPr lang="en-US" altLang="ko-KR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;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629426" y="3532645"/>
          <a:ext cx="9203055" cy="11125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20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92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LIMIT - </a:t>
                      </a:r>
                      <a:r>
                        <a:rPr lang="ko-KR" altLang="en-US" sz="2500">
                          <a:latin typeface="나눔고딕"/>
                          <a:ea typeface="나눔고딕"/>
                        </a:rPr>
                        <a:t>출력개수를 제한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01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use employees;</a:t>
                      </a:r>
                    </a:p>
                    <a:p>
                      <a:pPr>
                        <a:defRPr/>
                      </a:pP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select </a:t>
                      </a:r>
                      <a:r>
                        <a:rPr lang="en-US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emp_no,hire_date</a:t>
                      </a: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From employees Order by </a:t>
                      </a:r>
                      <a:r>
                        <a:rPr lang="en-US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emp_no</a:t>
                      </a: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ASC</a:t>
                      </a:r>
                      <a:r>
                        <a:rPr lang="ko-KR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en-US" b="1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LIMIT</a:t>
                      </a: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</a:t>
                      </a:r>
                      <a:r>
                        <a:rPr lang="en-US" altLang="ko-KR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5</a:t>
                      </a: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227083"/>
              </p:ext>
            </p:extLst>
          </p:nvPr>
        </p:nvGraphicFramePr>
        <p:xfrm>
          <a:off x="623743" y="5054066"/>
          <a:ext cx="9203055" cy="1386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20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92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나눔고딕"/>
                          <a:ea typeface="나눔고딕"/>
                        </a:rPr>
                        <a:t>ROWNUM</a:t>
                      </a:r>
                      <a:endParaRPr lang="ko-KR" altLang="en-US" sz="2500" dirty="0">
                        <a:latin typeface="나눔고딕"/>
                        <a:ea typeface="나눔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01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select * from </a:t>
                      </a:r>
                      <a:r>
                        <a:rPr lang="en-US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en-US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rownum</a:t>
                      </a: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= 1 ;</a:t>
                      </a:r>
                    </a:p>
                    <a:p>
                      <a:pPr>
                        <a:defRPr/>
                      </a:pP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select * from </a:t>
                      </a:r>
                      <a:r>
                        <a:rPr lang="en-US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usertbl</a:t>
                      </a: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where </a:t>
                      </a:r>
                      <a:r>
                        <a:rPr lang="en-US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rownum</a:t>
                      </a: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 &gt;= 1 and </a:t>
                      </a:r>
                      <a:r>
                        <a:rPr lang="en-US" altLang="en-US" dirty="0" err="1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rownum</a:t>
                      </a:r>
                      <a:r>
                        <a:rPr lang="en-US" altLang="en-US" dirty="0">
                          <a:solidFill>
                            <a:srgbClr val="808080"/>
                          </a:solidFill>
                          <a:latin typeface="나눔고딕"/>
                          <a:ea typeface="나눔고딕"/>
                        </a:rPr>
                        <a:t>&lt;=5;</a:t>
                      </a:r>
                      <a:br>
                        <a:rPr lang="ko-KR" altLang="en-US" dirty="0"/>
                      </a:br>
                      <a:endParaRPr lang="en-US" altLang="en-US" dirty="0">
                        <a:solidFill>
                          <a:srgbClr val="808080"/>
                        </a:solidFill>
                        <a:latin typeface="나눔고딕"/>
                        <a:ea typeface="나눔고딕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2037652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테이블 복사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B0DAA1A4-6925-4CBE-8248-C8940B5CA4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23"/>
          <a:stretch/>
        </p:blipFill>
        <p:spPr>
          <a:xfrm>
            <a:off x="276335" y="2292896"/>
            <a:ext cx="8161727" cy="41711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2037652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테이블 복사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B0DAA1A4-6925-4CBE-8248-C8940B5CA4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92"/>
          <a:stretch/>
        </p:blipFill>
        <p:spPr>
          <a:xfrm>
            <a:off x="339397" y="1996966"/>
            <a:ext cx="8161727" cy="192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3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8" y="654596"/>
            <a:ext cx="1685222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중간 문제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467191" y="2167935"/>
          <a:ext cx="3698416" cy="84010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698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2500">
                          <a:latin typeface="Consolas"/>
                          <a:ea typeface="안상수2006가는"/>
                        </a:rPr>
                        <a:t>buyTbl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>
                        <a:solidFill>
                          <a:srgbClr val="808080"/>
                        </a:solidFill>
                        <a:latin typeface="Consolas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3053" y="2649347"/>
            <a:ext cx="3686689" cy="3200846"/>
          </a:xfrm>
          <a:prstGeom prst="rect">
            <a:avLst/>
          </a:prstGeom>
        </p:spPr>
      </p:pic>
      <p:graphicFrame>
        <p:nvGraphicFramePr>
          <p:cNvPr id="67" name="표 66"/>
          <p:cNvGraphicFramePr>
            <a:graphicFrameLocks noGrp="1"/>
          </p:cNvGraphicFramePr>
          <p:nvPr/>
        </p:nvGraphicFramePr>
        <p:xfrm>
          <a:off x="4601852" y="2198739"/>
          <a:ext cx="7193280" cy="27941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19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1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ko-KR" altLang="en-US" sz="2500">
                          <a:latin typeface="Consolas"/>
                          <a:ea typeface="안상수2006가는"/>
                        </a:rPr>
                        <a:t>문제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022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1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userId 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순으로 오름차순 정렬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2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price 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순으로 내림차순 정렬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3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amount 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순으로 오름차순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prodName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으로 내림차순정렬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4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prodName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을 오름차순으로 정렬시 중복 제거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5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userID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열의 검색시 중복된 아이디제거하고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select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6 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구매양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(amount)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가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3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이상인 행을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 prodName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내림차순으로 정렬</a:t>
                      </a:r>
                    </a:p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7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usertbl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의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addr 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가 서울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,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경기인 값들을 </a:t>
                      </a:r>
                      <a:r>
                        <a:rPr lang="en-US" altLang="ko-KR">
                          <a:solidFill>
                            <a:srgbClr val="808080"/>
                          </a:solidFill>
                          <a:latin typeface="Consolas"/>
                        </a:rPr>
                        <a:t>CUsertbl</a:t>
                      </a:r>
                      <a:r>
                        <a:rPr lang="ko-KR" altLang="en-US">
                          <a:solidFill>
                            <a:srgbClr val="808080"/>
                          </a:solidFill>
                          <a:latin typeface="Consolas"/>
                        </a:rPr>
                        <a:t>에 복사</a:t>
                      </a:r>
                    </a:p>
                    <a:p>
                      <a:pPr>
                        <a:defRPr/>
                      </a:pPr>
                      <a:endParaRPr lang="ko-KR" altLang="en-US">
                        <a:solidFill>
                          <a:srgbClr val="808080"/>
                        </a:solidFill>
                        <a:latin typeface="Consolas"/>
                      </a:endParaRPr>
                    </a:p>
                  </a:txBody>
                  <a:tcP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1402</Words>
  <Application>Microsoft Office PowerPoint</Application>
  <PresentationFormat>와이드스크린</PresentationFormat>
  <Paragraphs>268</Paragraphs>
  <Slides>36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3" baseType="lpstr">
      <vt:lpstr>나눔고딕</vt:lpstr>
      <vt:lpstr>나눔스퀘어라운드 Regular</vt:lpstr>
      <vt:lpstr>안상수2006가는</vt:lpstr>
      <vt:lpstr>함초롬돋움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562</cp:revision>
  <dcterms:created xsi:type="dcterms:W3CDTF">2015-07-07T04:48:58Z</dcterms:created>
  <dcterms:modified xsi:type="dcterms:W3CDTF">2022-04-27T11:00:27Z</dcterms:modified>
  <cp:version>1000.0000.01</cp:version>
</cp:coreProperties>
</file>