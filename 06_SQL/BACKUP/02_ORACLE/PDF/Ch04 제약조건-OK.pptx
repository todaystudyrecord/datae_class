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9" r:id="rId17"/>
    <p:sldId id="273" r:id="rId18"/>
    <p:sldId id="274" r:id="rId19"/>
    <p:sldId id="291" r:id="rId20"/>
    <p:sldId id="275" r:id="rId21"/>
    <p:sldId id="290" r:id="rId22"/>
    <p:sldId id="276" r:id="rId23"/>
    <p:sldId id="277" r:id="rId24"/>
    <p:sldId id="292" r:id="rId25"/>
    <p:sldId id="278" r:id="rId26"/>
    <p:sldId id="279" r:id="rId27"/>
    <p:sldId id="280" r:id="rId28"/>
    <p:sldId id="281" r:id="rId29"/>
    <p:sldId id="282" r:id="rId30"/>
    <p:sldId id="283" r:id="rId31"/>
    <p:sldId id="293" r:id="rId32"/>
    <p:sldId id="284" r:id="rId33"/>
    <p:sldId id="287" r:id="rId34"/>
    <p:sldId id="288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426"/>
  </p:normalViewPr>
  <p:slideViewPr>
    <p:cSldViewPr snapToGrid="0" showGuides="1">
      <p:cViewPr varScale="1">
        <p:scale>
          <a:sx n="69" d="100"/>
          <a:sy n="69" d="100"/>
        </p:scale>
        <p:origin x="1234" y="72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2022-05-03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555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595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5/3/2022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299661"/>
            <a:ext cx="7323663" cy="1003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6000" b="1" spc="-150">
                <a:solidFill>
                  <a:srgbClr val="595959"/>
                </a:solidFill>
                <a:latin typeface="+mj-lt"/>
                <a:ea typeface="THE명품고딕L"/>
              </a:rPr>
              <a:t>11</a:t>
            </a:r>
            <a:r>
              <a:rPr lang="ko-KR" altLang="en-US" sz="6000" b="1" spc="-150">
                <a:solidFill>
                  <a:srgbClr val="595959"/>
                </a:solidFill>
                <a:latin typeface="+mj-lt"/>
                <a:ea typeface="THE명품고딕L"/>
              </a:rPr>
              <a:t> 제약조건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84495"/>
            <a:chOff x="527769" y="1728426"/>
            <a:chExt cx="5187231" cy="1884495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23"/>
              <a:ext cx="1499128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PK</a:t>
              </a:r>
              <a:r>
                <a:rPr lang="ko-KR" altLang="en-US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설정 </a:t>
              </a:r>
              <a:endParaRPr lang="en-US" altLang="ko-KR" sz="3000" b="1" spc="-150" dirty="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2380554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DB/Table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생성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092866"/>
              </p:ext>
            </p:extLst>
          </p:nvPr>
        </p:nvGraphicFramePr>
        <p:xfrm>
          <a:off x="510857" y="2009760"/>
          <a:ext cx="10222230" cy="16611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기본 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Table 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40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테이블명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열이름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자료형 옵션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옵션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열이름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자료형 옵션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옵션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2..);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ex)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testTbl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(num int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auto_increment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primary key, name char(10) ..);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35" y="661919"/>
            <a:ext cx="755431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 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29457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 sz="3000" spc="-15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489670" y="2109927"/>
          <a:ext cx="10222230" cy="16611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29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관계형 테이블 만들기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부모테이블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기본키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40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CREATE TABLE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Consolas"/>
                        </a:rPr>
                        <a:t>테이블명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Consolas"/>
                        </a:rPr>
                        <a:t>열이름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Consolas"/>
                        </a:rPr>
                        <a:t>자료형 </a:t>
                      </a: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Consolas"/>
                        </a:rPr>
                        <a:t>PRIMARY KEY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,</a:t>
                      </a:r>
                    </a:p>
                    <a:p>
                      <a:pPr>
                        <a:defRPr/>
                      </a:pP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...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1095" y="3886867"/>
          <a:ext cx="10222230" cy="16611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관계형 테이블 만들기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자식테이블 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sz="2500" dirty="0" err="1">
                          <a:latin typeface="나눔고딕"/>
                          <a:ea typeface="나눔고딕"/>
                        </a:rPr>
                        <a:t>외래키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40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CREATE TABLE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Consolas"/>
                        </a:rPr>
                        <a:t>열이름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Consolas"/>
                        </a:rPr>
                        <a:t> 자료형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Consolas"/>
                        </a:rPr>
                        <a:t>FOREIGN KEY REFERENCES </a:t>
                      </a:r>
                      <a:r>
                        <a:rPr lang="en-US" altLang="ko-KR" b="1" dirty="0" err="1">
                          <a:solidFill>
                            <a:srgbClr val="808080"/>
                          </a:solidFill>
                          <a:latin typeface="Consolas"/>
                        </a:rPr>
                        <a:t>userTbl</a:t>
                      </a: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Consolas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rgbClr val="808080"/>
                          </a:solidFill>
                          <a:latin typeface="Consolas"/>
                        </a:rPr>
                        <a:t>userID</a:t>
                      </a: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Consolas"/>
                        </a:rPr>
                        <a:t>)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,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...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TextBox 5"/>
          <p:cNvSpPr txBox="1"/>
          <p:nvPr/>
        </p:nvSpPr>
        <p:spPr>
          <a:xfrm>
            <a:off x="863661" y="654596"/>
            <a:ext cx="2380554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DB/Table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생성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158998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89441" y="1872082"/>
            <a:ext cx="8235949" cy="907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rgbClr val="808080"/>
                </a:solidFill>
                <a:latin typeface="Consolas"/>
              </a:rPr>
              <a:t>[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문제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]</a:t>
            </a:r>
          </a:p>
          <a:p>
            <a:pPr>
              <a:defRPr/>
            </a:pPr>
            <a:r>
              <a:rPr lang="ko-KR" altLang="en-US">
                <a:solidFill>
                  <a:srgbClr val="808080"/>
                </a:solidFill>
                <a:latin typeface="Consolas"/>
              </a:rPr>
              <a:t>다음 테이블을 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SQL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문을 통해 생성해 보세요</a:t>
            </a:r>
          </a:p>
          <a:p>
            <a:pPr>
              <a:defRPr/>
            </a:pPr>
            <a:r>
              <a:rPr lang="en-US" altLang="ko-KR">
                <a:solidFill>
                  <a:srgbClr val="808080"/>
                </a:solidFill>
                <a:latin typeface="Consolas"/>
              </a:rPr>
              <a:t>testDb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에서 진행합니다</a:t>
            </a: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371474" y="3344333"/>
          <a:ext cx="5884329" cy="25527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9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31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8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add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order</a:t>
                      </a:r>
                      <a:r>
                        <a:rPr lang="en-US" altLang="ko-KR" sz="1100" i="0" u="none" strike="noStrike">
                          <a:solidFill>
                            <a:srgbClr val="203A7B"/>
                          </a:solidFill>
                          <a:latin typeface="나눔고딕"/>
                          <a:ea typeface="나눔고딕"/>
                        </a:rPr>
                        <a:t>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KHC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김희철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일반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010-111-1111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LYJ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이영자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부산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실버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010-222-2222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가방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PHS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박효신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대구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골드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010-333-3333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모자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IU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아이유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속초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다이아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010-444-4444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SNE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손나은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울산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일반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010-555-5555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아우터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321731" y="2918774"/>
            <a:ext cx="3600451" cy="336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[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고객주문테이블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(customerTbl)</a:t>
            </a: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6566958" y="3349624"/>
          <a:ext cx="4556521" cy="2548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7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prodName</a:t>
                      </a:r>
                      <a:r>
                        <a:rPr lang="en-US" altLang="ko-KR" sz="1100" i="0" u="none" strike="noStrike">
                          <a:solidFill>
                            <a:srgbClr val="FF0000"/>
                          </a:solidFill>
                          <a:latin typeface="나눔고딕"/>
                          <a:ea typeface="나눔고딕"/>
                        </a:rPr>
                        <a:t>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111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20000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222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가방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100000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50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333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모자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15000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30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444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티셔츠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20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555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아우터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200000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155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6580715" y="2987566"/>
            <a:ext cx="3600452" cy="336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[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제품테이블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(productTbl)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54223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답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15107" y="173319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8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266362" y="2322017"/>
          <a:ext cx="10050780" cy="22707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893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[</a:t>
                      </a:r>
                      <a:r>
                        <a:rPr lang="ko-KR" altLang="en-US" sz="2500">
                          <a:solidFill>
                            <a:schemeClr val="lt1"/>
                          </a:solidFill>
                          <a:latin typeface="Consolas"/>
                        </a:rPr>
                        <a:t>제품테이블</a:t>
                      </a: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(productTbl) - Create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6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use testDB;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CREATE TABLE productTbl(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	code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	prodName CHAR(10) </a:t>
                      </a:r>
                      <a:r>
                        <a:rPr lang="en-US" altLang="ko-KR" sz="1600" b="1">
                          <a:solidFill>
                            <a:schemeClr val="dk1"/>
                          </a:solidFill>
                          <a:latin typeface="Consolas"/>
                        </a:rPr>
                        <a:t>PRIMARY KEY</a:t>
                      </a: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	price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	count INT NOT NULL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chemeClr val="dk1"/>
                          </a:solidFill>
                          <a:latin typeface="Consolas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54223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답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15107" y="173319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325628" y="2074367"/>
          <a:ext cx="10050780" cy="35814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893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[</a:t>
                      </a:r>
                      <a:r>
                        <a:rPr lang="ko-KR" altLang="en-US" sz="2500">
                          <a:solidFill>
                            <a:schemeClr val="lt1"/>
                          </a:solidFill>
                          <a:latin typeface="Consolas"/>
                        </a:rPr>
                        <a:t>고객주문테이블</a:t>
                      </a: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(customerTbl) - Create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6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CREATE TABLE customerTbl(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num INT auto_increment primary key,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userid CHAR(3)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name VARCHAR(20)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addr CHAR(4)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grade CHAR(4)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phone VARCHAR(30)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orderN CHAR(10)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amount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	</a:t>
                      </a:r>
                      <a:r>
                        <a:rPr lang="en-US" altLang="ko-KR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FOREIGN KEY(orderN) REFERENCES productTbl(prodName)</a:t>
                      </a:r>
                      <a:endParaRPr lang="en-US" altLang="ko-KR">
                        <a:solidFill>
                          <a:schemeClr val="dk1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54223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답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405003" y="2118465"/>
          <a:ext cx="10050780" cy="1783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893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[</a:t>
                      </a:r>
                      <a:r>
                        <a:rPr lang="ko-KR" altLang="en-US" sz="2500">
                          <a:solidFill>
                            <a:schemeClr val="lt1"/>
                          </a:solidFill>
                          <a:latin typeface="Consolas"/>
                        </a:rPr>
                        <a:t>고객주문테이블</a:t>
                      </a: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(customerTbl) - 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6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INSERT INTO customerTbl VALUES('KHC','김희철','서울','일반','010-111-1111','신발',2)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INSERT INTO customerTbl VALUES('LYJ','이영자','부산','일반','010-222-2222','가방',5)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INSERT INTO customerTbl VALUES('PHS','박효신','대구','일반','010-333-3333','모자',1)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INSERT INTO customerTbl VALUES('IU','아이유','속초','일반','010-444-4444','신발',1)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INSERT INTO customerTbl VALUES('SNE','손나은','울산','일반','010-555-5555','아우터',3)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38340" y="4443624"/>
          <a:ext cx="10050780" cy="1783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893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[</a:t>
                      </a:r>
                      <a:r>
                        <a:rPr lang="ko-KR" altLang="en-US" sz="2500">
                          <a:solidFill>
                            <a:schemeClr val="lt1"/>
                          </a:solidFill>
                          <a:latin typeface="Consolas"/>
                        </a:rPr>
                        <a:t>제품테이블</a:t>
                      </a:r>
                      <a:r>
                        <a:rPr lang="en-US" altLang="ko-KR" sz="2500">
                          <a:solidFill>
                            <a:schemeClr val="lt1"/>
                          </a:solidFill>
                          <a:latin typeface="Consolas"/>
                        </a:rPr>
                        <a:t>(productTbl) - 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6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INSERT INTO productTbl VALUES(111,'신발',20000,100)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INSERT INTO productTbl VALUES(222,'가방',100000,50)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INSERT INTO productTbl VALUES(333,'모자',15000,30)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INSERT INTO productTbl VALUES(444,'티셔츠',10000,20)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INSERT INTO productTbl VALUES(555,'아우터',200000,155)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84495"/>
            <a:chOff x="527769" y="1728426"/>
            <a:chExt cx="5187231" cy="1884495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23"/>
              <a:ext cx="2831224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 dirty="0" err="1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기본키</a:t>
              </a:r>
              <a:r>
                <a:rPr lang="ko-KR" altLang="en-US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 제약조건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1589984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21421" y="2076661"/>
          <a:ext cx="10052898" cy="14614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3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특정 데이터를 입력할 때 무조건적으로 저장되는 것이 아닌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어떠한 조건을 만족했을 때에 입력되도록 제약하는 옵션</a:t>
                      </a:r>
                    </a:p>
                    <a:p>
                      <a:pPr>
                        <a:defRPr/>
                      </a:pP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데이터의 무결성을 지키기 위한 제한된 조건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/>
        </p:nvGraphicFramePr>
        <p:xfrm>
          <a:off x="546821" y="3816560"/>
          <a:ext cx="10050780" cy="20269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종류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Primary Key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관계형성관련 제약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Foreign Key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관계형성관련 제약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UNIQUE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CHECK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(MySQL 8.0.16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부터 정식 지원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DEFAULT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정의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NULL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값 허용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5" y="654596"/>
            <a:ext cx="2742510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기본키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21421" y="2076661"/>
          <a:ext cx="10050780" cy="15392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3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기본키 제약 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행의 데이터를 구분할 수 있는 식별자열</a:t>
                      </a:r>
                    </a:p>
                    <a:p>
                      <a:pPr>
                        <a:defRPr/>
                      </a:pP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값은 중복될수 없다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NULL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을 허용하지 않는다</a:t>
                      </a:r>
                    </a:p>
                    <a:p>
                      <a:pPr>
                        <a:defRPr/>
                      </a:pP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관계 테이블 형성시 사용 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50319"/>
              </p:ext>
            </p:extLst>
          </p:nvPr>
        </p:nvGraphicFramePr>
        <p:xfrm>
          <a:off x="602721" y="4169695"/>
          <a:ext cx="10050780" cy="15392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TEST_01(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char(10) primary key,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 char(10) not null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 err="1">
                <a:solidFill>
                  <a:schemeClr val="accent4"/>
                </a:solidFill>
                <a:latin typeface="+mj-ea"/>
                <a:ea typeface="+mj-ea"/>
              </a:rPr>
              <a:t>기본키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563889"/>
              </p:ext>
            </p:extLst>
          </p:nvPr>
        </p:nvGraphicFramePr>
        <p:xfrm>
          <a:off x="525653" y="2198192"/>
          <a:ext cx="10050780" cy="14614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제약 조건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CONSTRAINT_NAME, CONSTRAINT_TYPE, TABLE_NAME, A.*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FROM ALL_CONSTRAINTS A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 TABLE_NAME = 'TEST_01';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713AAC4-A692-444F-B44F-6604F9912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356570"/>
              </p:ext>
            </p:extLst>
          </p:nvPr>
        </p:nvGraphicFramePr>
        <p:xfrm>
          <a:off x="525653" y="4221252"/>
          <a:ext cx="10050780" cy="14614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 err="1">
                          <a:latin typeface="나눔고딕"/>
                          <a:ea typeface="나눔고딕"/>
                        </a:rPr>
                        <a:t>컬럼별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제약조건을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 FROM ALL_CONS_COLUMNS WHERE CONSTRAINT_NAME =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제약조건명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기본키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951397"/>
              </p:ext>
            </p:extLst>
          </p:nvPr>
        </p:nvGraphicFramePr>
        <p:xfrm>
          <a:off x="525653" y="2198192"/>
          <a:ext cx="10050780" cy="14614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테이블 생성 후 </a:t>
                      </a:r>
                      <a:r>
                        <a:rPr lang="ko-KR" altLang="en-US" sz="2500" dirty="0" err="1">
                          <a:latin typeface="나눔고딕"/>
                          <a:ea typeface="나눔고딕"/>
                        </a:rPr>
                        <a:t>기본키지정</a:t>
                      </a:r>
                      <a:endParaRPr lang="ko-KR" altLang="en-US" sz="25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000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usertbl2 add constraint </a:t>
                      </a:r>
                      <a:r>
                        <a:rPr lang="en-US" altLang="ko-KR" sz="2000" b="1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PK_userid</a:t>
                      </a:r>
                      <a:r>
                        <a:rPr lang="en-US" altLang="ko-KR" sz="2000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primary key (</a:t>
                      </a:r>
                      <a:r>
                        <a:rPr lang="en-US" altLang="ko-KR" sz="2000" b="1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sz="2000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8934057-D1A5-4A34-9AEE-810080D4F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6078"/>
              </p:ext>
            </p:extLst>
          </p:nvPr>
        </p:nvGraphicFramePr>
        <p:xfrm>
          <a:off x="525653" y="3429000"/>
          <a:ext cx="10050780" cy="14614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제약 조건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CONSTRAINT_NAME, CONSTRAINT_TYPE, TABLE_NAME, A.*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FROM ALL_CONSTRAINTS A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 TABLE_NAME = 'TEST_01';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67200E2-448B-4694-9F6D-FDA7BFDAB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697441"/>
              </p:ext>
            </p:extLst>
          </p:nvPr>
        </p:nvGraphicFramePr>
        <p:xfrm>
          <a:off x="525653" y="4941540"/>
          <a:ext cx="10050780" cy="14614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 err="1">
                          <a:latin typeface="나눔고딕"/>
                          <a:ea typeface="나눔고딕"/>
                        </a:rPr>
                        <a:t>컬럼별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제약조건을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 FROM ALL_CONS_COLUMNS WHERE CONSTRAINT_NAME =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제약조건명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2742504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기본키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306916" y="2538412"/>
          <a:ext cx="6181471" cy="18288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545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03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제품코드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제품 일련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제조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현 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03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AAA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0001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2019.10.10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판매완료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03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BBB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0002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2019.10.11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매장진열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03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BBB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0001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2019.10.12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>
                          <a:latin typeface="나눔고딕"/>
                          <a:ea typeface="나눔고딕"/>
                        </a:rPr>
                        <a:t>재고창고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03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CCC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0001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2019.10.13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dirty="0">
                          <a:latin typeface="나눔고딕"/>
                          <a:ea typeface="나눔고딕"/>
                        </a:rPr>
                        <a:t>판매완료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276728" y="1967225"/>
            <a:ext cx="11325248" cy="422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>
                <a:solidFill>
                  <a:srgbClr val="808080"/>
                </a:solidFill>
                <a:latin typeface="나눔고딕"/>
                <a:ea typeface="나눔고딕"/>
              </a:rPr>
              <a:t>[</a:t>
            </a:r>
            <a:r>
              <a:rPr lang="ko-KR" altLang="en-US" sz="2200">
                <a:solidFill>
                  <a:srgbClr val="808080"/>
                </a:solidFill>
                <a:latin typeface="나눔고딕"/>
                <a:ea typeface="나눔고딕"/>
              </a:rPr>
              <a:t>문제</a:t>
            </a:r>
            <a:r>
              <a:rPr lang="en-US" altLang="ko-KR" sz="2200">
                <a:solidFill>
                  <a:srgbClr val="808080"/>
                </a:solidFill>
                <a:latin typeface="나눔고딕"/>
                <a:ea typeface="나눔고딕"/>
              </a:rPr>
              <a:t>]</a:t>
            </a:r>
            <a:r>
              <a:rPr lang="ko-KR" altLang="en-US" sz="2200">
                <a:solidFill>
                  <a:srgbClr val="808080"/>
                </a:solidFill>
                <a:latin typeface="나눔고딕"/>
                <a:ea typeface="나눔고딕"/>
              </a:rPr>
              <a:t> 제품코드 </a:t>
            </a:r>
            <a:r>
              <a:rPr lang="en-US" altLang="ko-KR" sz="2200">
                <a:solidFill>
                  <a:srgbClr val="808080"/>
                </a:solidFill>
                <a:latin typeface="나눔고딕"/>
                <a:ea typeface="나눔고딕"/>
              </a:rPr>
              <a:t>+</a:t>
            </a:r>
            <a:r>
              <a:rPr lang="ko-KR" altLang="en-US" sz="2200">
                <a:solidFill>
                  <a:srgbClr val="808080"/>
                </a:solidFill>
                <a:latin typeface="나눔고딕"/>
                <a:ea typeface="나눔고딕"/>
              </a:rPr>
              <a:t> 제품일련번호를 합쳐서 유일한 값으로 만든 뒤 </a:t>
            </a:r>
            <a:r>
              <a:rPr lang="en-US" altLang="ko-KR" sz="2200">
                <a:solidFill>
                  <a:srgbClr val="808080"/>
                </a:solidFill>
                <a:latin typeface="나눔고딕"/>
                <a:ea typeface="나눔고딕"/>
              </a:rPr>
              <a:t>PK</a:t>
            </a:r>
            <a:r>
              <a:rPr lang="ko-KR" altLang="en-US" sz="2200">
                <a:solidFill>
                  <a:srgbClr val="808080"/>
                </a:solidFill>
                <a:latin typeface="나눔고딕"/>
                <a:ea typeface="나눔고딕"/>
              </a:rPr>
              <a:t>로 설정하기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2532" y="2440940"/>
            <a:ext cx="5469468" cy="367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>
              <a:latin typeface="나눔고딕"/>
              <a:ea typeface="나눔고딕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6579320" y="2526275"/>
          <a:ext cx="4904404" cy="39833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904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여러 키열을 기본키로 설정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9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600" dirty="0"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sz="1600" dirty="0" err="1">
                          <a:latin typeface="나눔고딕"/>
                          <a:ea typeface="나눔고딕"/>
                        </a:rPr>
                        <a:t>prodtbl</a:t>
                      </a:r>
                      <a:endParaRPr lang="en-US" sz="1600" dirty="0"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sz="1600" dirty="0">
                          <a:latin typeface="나눔고딕"/>
                          <a:ea typeface="나눔고딕"/>
                        </a:rPr>
                        <a:t>( </a:t>
                      </a:r>
                    </a:p>
                    <a:p>
                      <a:pPr>
                        <a:defRPr/>
                      </a:pPr>
                      <a:r>
                        <a:rPr lang="en-US" sz="1600" dirty="0" err="1">
                          <a:latin typeface="나눔고딕"/>
                          <a:ea typeface="나눔고딕"/>
                        </a:rPr>
                        <a:t>prodCode</a:t>
                      </a:r>
                      <a:r>
                        <a:rPr lang="en-US" sz="1600" dirty="0">
                          <a:latin typeface="나눔고딕"/>
                          <a:ea typeface="나눔고딕"/>
                        </a:rPr>
                        <a:t> char(3) not null,</a:t>
                      </a:r>
                    </a:p>
                    <a:p>
                      <a:pPr>
                        <a:defRPr/>
                      </a:pPr>
                      <a:r>
                        <a:rPr lang="en-US" sz="1600" dirty="0" err="1">
                          <a:latin typeface="나눔고딕"/>
                          <a:ea typeface="나눔고딕"/>
                        </a:rPr>
                        <a:t>prodId</a:t>
                      </a:r>
                      <a:r>
                        <a:rPr lang="en-US" sz="1600" dirty="0">
                          <a:latin typeface="나눔고딕"/>
                          <a:ea typeface="나눔고딕"/>
                        </a:rPr>
                        <a:t> char(4) not null,</a:t>
                      </a:r>
                    </a:p>
                    <a:p>
                      <a:pPr>
                        <a:defRPr/>
                      </a:pPr>
                      <a:r>
                        <a:rPr lang="en-US" sz="1600" dirty="0" err="1">
                          <a:latin typeface="나눔고딕"/>
                          <a:ea typeface="나눔고딕"/>
                        </a:rPr>
                        <a:t>prodCur</a:t>
                      </a:r>
                      <a:r>
                        <a:rPr lang="en-US" sz="1600" dirty="0">
                          <a:latin typeface="나눔고딕"/>
                          <a:ea typeface="나눔고딕"/>
                        </a:rPr>
                        <a:t> char(10) null</a:t>
                      </a:r>
                    </a:p>
                    <a:p>
                      <a:pPr>
                        <a:defRPr/>
                      </a:pPr>
                      <a:r>
                        <a:rPr lang="en-US" sz="1600" dirty="0">
                          <a:latin typeface="나눔고딕"/>
                          <a:ea typeface="나눔고딕"/>
                        </a:rPr>
                        <a:t>);</a:t>
                      </a:r>
                    </a:p>
                    <a:p>
                      <a:pPr>
                        <a:defRPr/>
                      </a:pPr>
                      <a:endParaRPr lang="en-US" sz="1600" dirty="0"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sz="1600" b="1" dirty="0">
                          <a:latin typeface="나눔고딕"/>
                          <a:ea typeface="나눔고딕"/>
                        </a:rPr>
                        <a:t>alter table </a:t>
                      </a:r>
                      <a:r>
                        <a:rPr lang="en-US" sz="1600" b="1" dirty="0" err="1">
                          <a:latin typeface="나눔고딕"/>
                          <a:ea typeface="나눔고딕"/>
                        </a:rPr>
                        <a:t>prodTbl</a:t>
                      </a:r>
                      <a:endParaRPr lang="en-US" sz="1600" b="1" dirty="0"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sz="1600" b="1" dirty="0">
                          <a:latin typeface="나눔고딕"/>
                          <a:ea typeface="나눔고딕"/>
                        </a:rPr>
                        <a:t>add constraint </a:t>
                      </a:r>
                      <a:r>
                        <a:rPr lang="en-US" sz="1600" b="1" dirty="0" err="1">
                          <a:latin typeface="나눔고딕"/>
                          <a:ea typeface="나눔고딕"/>
                        </a:rPr>
                        <a:t>pk_prodTbl_proCode_prodId</a:t>
                      </a:r>
                      <a:endParaRPr lang="en-US" sz="1600" b="1" dirty="0"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sz="1600" b="1" dirty="0">
                          <a:latin typeface="나눔고딕"/>
                          <a:ea typeface="나눔고딕"/>
                        </a:rPr>
                        <a:t>primary key (</a:t>
                      </a:r>
                      <a:r>
                        <a:rPr lang="en-US" sz="1600" b="1" dirty="0" err="1">
                          <a:latin typeface="나눔고딕"/>
                          <a:ea typeface="나눔고딕"/>
                        </a:rPr>
                        <a:t>prodCode,ProdId</a:t>
                      </a:r>
                      <a:r>
                        <a:rPr lang="en-US" sz="1600" b="1" dirty="0">
                          <a:latin typeface="나눔고딕"/>
                          <a:ea typeface="나눔고딕"/>
                        </a:rPr>
                        <a:t>);</a:t>
                      </a:r>
                      <a:endParaRPr lang="en-US" sz="1600" dirty="0"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endParaRPr lang="en-US" sz="1600" dirty="0"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sz="1600" dirty="0">
                          <a:latin typeface="나눔고딕"/>
                          <a:ea typeface="나눔고딕"/>
                        </a:rPr>
                        <a:t>desc </a:t>
                      </a:r>
                      <a:r>
                        <a:rPr lang="en-US" sz="1600" dirty="0" err="1">
                          <a:latin typeface="나눔고딕"/>
                          <a:ea typeface="나눔고딕"/>
                        </a:rPr>
                        <a:t>prodtbl</a:t>
                      </a:r>
                      <a:r>
                        <a:rPr lang="en-US" sz="1600" dirty="0"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sz="1600" dirty="0">
                          <a:latin typeface="나눔고딕"/>
                          <a:ea typeface="나눔고딕"/>
                        </a:rPr>
                        <a:t>show keys from </a:t>
                      </a:r>
                      <a:r>
                        <a:rPr lang="en-US" sz="1600" dirty="0" err="1">
                          <a:latin typeface="나눔고딕"/>
                          <a:ea typeface="나눔고딕"/>
                        </a:rPr>
                        <a:t>prodtbl</a:t>
                      </a:r>
                      <a:r>
                        <a:rPr lang="en-US" sz="1600" dirty="0"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endParaRPr lang="en-US" sz="1600" dirty="0"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2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기본키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72736" y="2155859"/>
          <a:ext cx="4897755" cy="39833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897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여러 키열을 기본키로 설정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9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drop table prodtbl;</a:t>
                      </a: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create table prodtbl</a:t>
                      </a: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( </a:t>
                      </a: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prodCode char(3) not null,</a:t>
                      </a: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prodId char(4) not null,</a:t>
                      </a: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prodCur char(10) null,</a:t>
                      </a:r>
                    </a:p>
                    <a:p>
                      <a:pPr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rPr>
                        <a:t>constraint PK_prodTbl_proCode_prodID </a:t>
                      </a:r>
                    </a:p>
                    <a:p>
                      <a:pPr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rPr>
                        <a:t>	PRIMARY KEY (prodCode,prodID)</a:t>
                      </a:r>
                      <a:endParaRPr lang="en-US" sz="1600"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);</a:t>
                      </a: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desc prodtbl;</a:t>
                      </a:r>
                    </a:p>
                    <a:p>
                      <a:pPr>
                        <a:defRPr/>
                      </a:pPr>
                      <a:r>
                        <a:rPr lang="en-US" sz="1600">
                          <a:latin typeface="나눔고딕"/>
                          <a:ea typeface="나눔고딕"/>
                        </a:rPr>
                        <a:t>show keys from prodtbl;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84495"/>
            <a:chOff x="527769" y="1728426"/>
            <a:chExt cx="5187231" cy="1884495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23"/>
              <a:ext cx="2919389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 </a:t>
              </a:r>
              <a:r>
                <a:rPr lang="ko-KR" altLang="en-US" sz="3000" b="1" spc="-150" dirty="0" err="1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외래키</a:t>
              </a:r>
              <a:r>
                <a:rPr lang="ko-KR" altLang="en-US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 제약조건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4942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외래키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986194"/>
              </p:ext>
            </p:extLst>
          </p:nvPr>
        </p:nvGraphicFramePr>
        <p:xfrm>
          <a:off x="521421" y="2076660"/>
          <a:ext cx="11041314" cy="233310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04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861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외래키 제약 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449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2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기본키열을</a:t>
                      </a:r>
                      <a:r>
                        <a:rPr lang="ko-KR" altLang="en-US" sz="22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참조하는 </a:t>
                      </a:r>
                      <a:r>
                        <a:rPr lang="ko-KR" altLang="en-US" sz="22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키열</a:t>
                      </a:r>
                      <a:r>
                        <a:rPr lang="ko-KR" altLang="en-US" sz="22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ko-KR" altLang="en-US" sz="22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테이블간의</a:t>
                      </a:r>
                      <a:r>
                        <a:rPr lang="ko-KR" altLang="en-US" sz="22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관계 형성에 사용</a:t>
                      </a:r>
                    </a:p>
                    <a:p>
                      <a:pPr>
                        <a:defRPr/>
                      </a:pPr>
                      <a:r>
                        <a:rPr lang="ko-KR" altLang="en-US" sz="22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외래키열은</a:t>
                      </a:r>
                      <a:r>
                        <a:rPr lang="ko-KR" altLang="en-US" sz="22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중복허용</a:t>
                      </a:r>
                    </a:p>
                    <a:p>
                      <a:pPr>
                        <a:defRPr/>
                      </a:pPr>
                      <a:r>
                        <a:rPr lang="ko-KR" altLang="en-US" sz="22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기본키열의</a:t>
                      </a:r>
                      <a:r>
                        <a:rPr lang="ko-KR" altLang="en-US" sz="22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테이블에 없는 값은 </a:t>
                      </a:r>
                      <a:r>
                        <a:rPr lang="ko-KR" altLang="en-US" sz="22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외래키열에</a:t>
                      </a:r>
                      <a:r>
                        <a:rPr lang="ko-KR" altLang="en-US" sz="22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삽입할 수 없다 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외래키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975386"/>
              </p:ext>
            </p:extLst>
          </p:nvPr>
        </p:nvGraphicFramePr>
        <p:xfrm>
          <a:off x="521421" y="2076661"/>
          <a:ext cx="10050780" cy="1783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3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 err="1">
                          <a:latin typeface="나눔고딕"/>
                          <a:ea typeface="나눔고딕"/>
                        </a:rPr>
                        <a:t>Prod_Tbl</a:t>
                      </a:r>
                      <a:endParaRPr lang="ko-KR" altLang="en-US" sz="25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prod_tbl</a:t>
                      </a:r>
                      <a:endParaRPr lang="en-US" altLang="en-US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number primary key,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prod_name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varchar(40)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2AC955E-DD9A-4997-9F1C-5F19BA90F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218568"/>
              </p:ext>
            </p:extLst>
          </p:nvPr>
        </p:nvGraphicFramePr>
        <p:xfrm>
          <a:off x="546821" y="3995418"/>
          <a:ext cx="10050780" cy="22707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 err="1">
                          <a:latin typeface="나눔고딕"/>
                          <a:ea typeface="나눔고딕"/>
                        </a:rPr>
                        <a:t>Buy_Tbl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(FK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설정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)</a:t>
                      </a:r>
                      <a:endParaRPr lang="ko-KR" altLang="en-US" sz="25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buy_tbl</a:t>
                      </a:r>
                      <a:endParaRPr lang="en-US" altLang="ko-KR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number,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number,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order_date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date,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constraint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FK_prodTbl_buyTbl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foreign key(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 references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외래키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33378"/>
              </p:ext>
            </p:extLst>
          </p:nvPr>
        </p:nvGraphicFramePr>
        <p:xfrm>
          <a:off x="521421" y="2076661"/>
          <a:ext cx="10050780" cy="1783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3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 확인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 :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check,not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null , P : Primary key, R : foreign key , U : Unique)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ALL_CONSTRAINTS where TABLE_NAME='BUY_TBL';</a:t>
                      </a:r>
                    </a:p>
                    <a:p>
                      <a:pPr>
                        <a:defRPr/>
                      </a:pPr>
                      <a:endParaRPr lang="en-US" altLang="en-US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</a:t>
                      </a:r>
                      <a:r>
                        <a:rPr lang="ko-KR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컬럼별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제약조건을 조회하는 쿼리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 FROM ALL_CONS_COLUMNS WHERE CONSTRAINT_NAME = 'FK_PRODTBL_BUYTBL';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05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외래키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D299C80-7DA7-49FF-AE3F-781D77004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993726"/>
              </p:ext>
            </p:extLst>
          </p:nvPr>
        </p:nvGraphicFramePr>
        <p:xfrm>
          <a:off x="556653" y="1852841"/>
          <a:ext cx="10050780" cy="1783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FK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외래키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삭제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buy_tbl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DROP CONSTRAINT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FK_prodTbl_buyTbl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endParaRPr lang="en-US" altLang="ko-KR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 확인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(C :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check,not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null , P : Primary key, R : foreign key , U : Unique)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ALL_CONSTRAINTS where TABLE_NAME='BUY_TBL’;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6" y="654596"/>
            <a:ext cx="274250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외래키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958073"/>
              </p:ext>
            </p:extLst>
          </p:nvPr>
        </p:nvGraphicFramePr>
        <p:xfrm>
          <a:off x="521421" y="1889988"/>
          <a:ext cx="10050780" cy="1783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3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FK 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설정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외래키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추가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buy_tbl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ADD CONSTRAINT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FK_prodTbl_buyTbl_RE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FOREIGN KEY (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 REFERENCES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 확인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(C :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check,not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null , P : Primary key, R : foreign key , U : Unique)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ALL_CONSTRAINTS where TABLE_NAME='BUY_TBL';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07BC530-43E7-4549-AEAB-BFAC8709B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185164"/>
              </p:ext>
            </p:extLst>
          </p:nvPr>
        </p:nvGraphicFramePr>
        <p:xfrm>
          <a:off x="521421" y="3927271"/>
          <a:ext cx="10050780" cy="25146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227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FK 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설정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2500" dirty="0" err="1">
                          <a:latin typeface="나눔고딕"/>
                          <a:ea typeface="나눔고딕"/>
                        </a:rPr>
                        <a:t>Opiton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)</a:t>
                      </a:r>
                      <a:endParaRPr lang="ko-KR" altLang="en-US" sz="25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05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buy_tbl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DROP CONSTRAINT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FK_prodTbl_buyTbl_RE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commit;</a:t>
                      </a:r>
                    </a:p>
                    <a:p>
                      <a:pPr>
                        <a:defRPr/>
                      </a:pPr>
                      <a:endParaRPr lang="en-US" altLang="ko-KR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buy_tbl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ADD CONSTRAINT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FK_prodTbl_buyTbl_RE_Op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FOREIGN KEY (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 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REFERENCES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Prod_tbl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prod_id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on delete cascade; -- on update cascade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는 오라클에서 </a:t>
                      </a:r>
                      <a:r>
                        <a:rPr lang="ko-KR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지원하지않는다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트리거 설정을 통해서 </a:t>
                      </a:r>
                      <a:r>
                        <a:rPr lang="ko-KR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처리해야됨</a:t>
                      </a:r>
                      <a:endParaRPr lang="en-US" altLang="ko-KR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4250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외래키 제약조건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1061102" y="2608010"/>
            <a:ext cx="1692207" cy="1403417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373421" y="2856944"/>
            <a:ext cx="1134596" cy="1227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>
                <a:latin typeface="나눔고딕"/>
                <a:ea typeface="나눔고딕"/>
              </a:rPr>
              <a:t>기본키</a:t>
            </a:r>
          </a:p>
          <a:p>
            <a:pPr algn="ctr">
              <a:defRPr/>
            </a:pPr>
            <a:r>
              <a:rPr lang="ko-KR" altLang="en-US" sz="2500">
                <a:latin typeface="나눔고딕"/>
                <a:ea typeface="나눔고딕"/>
              </a:rPr>
              <a:t>제약 조건</a:t>
            </a:r>
          </a:p>
        </p:txBody>
      </p:sp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471341" y="2170216"/>
          <a:ext cx="11250930" cy="27584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25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외래키 옵션 종류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1. CASCADE : 참조되는 테이블에서 데이터를 삭제하거나 수정하면, 참조하는 테이블에서도 삭제와 수정이 같이 이루어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짐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2. SET NULL : 참조되는 테이블에서 데이터를 삭제하거나 수정하면, 참조하는 테이블의 데이터는 NULL로 변경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3. NO ACTION : 참조되는 테이블에서 데이터를 삭제하거나 수정해도, 참조하는 테이블의 데이터는 변경되지 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않음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4. SET DEFAULT : 참조되는 테이블에서 데이터를 삭제하거나 수정하면, 참조하는 테이블의 데이터는 필드의 기본값으로 설정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5. RESTRICT : 참조하는 테이블에 데이터가 남아 있으면, 참조되는 테이블의 데이터를 삭제하거나 수정할 수 없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음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.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980378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문제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14301" y="1889304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/>
        </p:nvGraphicFramePr>
        <p:xfrm>
          <a:off x="348189" y="3355334"/>
          <a:ext cx="2434166" cy="214037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1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이름</a:t>
                      </a:r>
                      <a:r>
                        <a:rPr lang="en-US" altLang="ko-KR" sz="1100" i="0" u="none" strike="noStrike">
                          <a:solidFill>
                            <a:srgbClr val="FF0000"/>
                          </a:solidFill>
                          <a:latin typeface="나눔고딕"/>
                          <a:ea typeface="나눔고딕"/>
                        </a:rPr>
                        <a:t>(PK)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지역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김범수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경남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성시경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조용필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경기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은지원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경북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바비킴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서울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5" name="표 74"/>
          <p:cNvGraphicFramePr>
            <a:graphicFrameLocks noGrp="1"/>
          </p:cNvGraphicFramePr>
          <p:nvPr/>
        </p:nvGraphicFramePr>
        <p:xfrm>
          <a:off x="3671356" y="3370152"/>
          <a:ext cx="3651249" cy="249710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1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일련번호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이름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동아리명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김범수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바둑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김범수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축구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조용필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축구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은지원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축구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은지원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봉사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바비킴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봉사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7771339" y="3412483"/>
          <a:ext cx="2434166" cy="146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1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동아리명</a:t>
                      </a:r>
                      <a:r>
                        <a:rPr lang="en-US" altLang="ko-KR" sz="1100" i="0" u="none" strike="noStrike">
                          <a:solidFill>
                            <a:srgbClr val="FF0000"/>
                          </a:solidFill>
                          <a:latin typeface="나눔고딕"/>
                          <a:ea typeface="나눔고딕"/>
                        </a:rPr>
                        <a:t>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동아리방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9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수영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101호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9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바둑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102호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9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축구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103호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9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봉사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나눔고딕"/>
                          <a:ea typeface="나눔고딕"/>
                        </a:rPr>
                        <a:t>104호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359018" y="5489793"/>
            <a:ext cx="3225615" cy="470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500">
                <a:solidFill>
                  <a:srgbClr val="000000"/>
                </a:solidFill>
                <a:latin typeface="나눔고딕"/>
                <a:ea typeface="나눔고딕"/>
              </a:rPr>
              <a:t>학생테이블</a:t>
            </a:r>
            <a:r>
              <a:rPr lang="en-US" altLang="ko-KR" sz="2500">
                <a:solidFill>
                  <a:srgbClr val="000000"/>
                </a:solidFill>
                <a:latin typeface="나눔고딕"/>
                <a:ea typeface="나눔고딕"/>
              </a:rPr>
              <a:t>(stdTbl)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9957" y="5894078"/>
            <a:ext cx="4001315" cy="847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500">
                <a:solidFill>
                  <a:srgbClr val="000000"/>
                </a:solidFill>
                <a:latin typeface="나눔고딕"/>
                <a:ea typeface="나눔고딕"/>
              </a:rPr>
              <a:t>학생</a:t>
            </a:r>
            <a:r>
              <a:rPr lang="en-US" altLang="ko-KR" sz="2500">
                <a:solidFill>
                  <a:srgbClr val="000000"/>
                </a:solidFill>
                <a:latin typeface="나눔고딕"/>
                <a:ea typeface="나눔고딕"/>
              </a:rPr>
              <a:t>_</a:t>
            </a:r>
            <a:r>
              <a:rPr lang="ko-KR" altLang="en-US" sz="2500">
                <a:solidFill>
                  <a:srgbClr val="000000"/>
                </a:solidFill>
                <a:latin typeface="나눔고딕"/>
                <a:ea typeface="나눔고딕"/>
              </a:rPr>
              <a:t>동아리 테이블</a:t>
            </a:r>
            <a:r>
              <a:rPr lang="en-US" altLang="ko-KR" sz="2500">
                <a:solidFill>
                  <a:srgbClr val="000000"/>
                </a:solidFill>
                <a:latin typeface="나눔고딕"/>
                <a:ea typeface="나눔고딕"/>
              </a:rPr>
              <a:t>(stdclubTbl)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70525" y="4850559"/>
            <a:ext cx="4431000" cy="47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500">
                <a:solidFill>
                  <a:srgbClr val="000000"/>
                </a:solidFill>
                <a:latin typeface="나눔고딕"/>
                <a:ea typeface="나눔고딕"/>
              </a:rPr>
              <a:t>동아리 테이블</a:t>
            </a:r>
            <a:r>
              <a:rPr lang="en-US" altLang="ko-KR" sz="2500">
                <a:solidFill>
                  <a:srgbClr val="000000"/>
                </a:solidFill>
                <a:latin typeface="나눔고딕"/>
                <a:ea typeface="나눔고딕"/>
              </a:rPr>
              <a:t>(clubTbl)</a:t>
            </a:r>
          </a:p>
        </p:txBody>
      </p:sp>
      <p:cxnSp>
        <p:nvCxnSpPr>
          <p:cNvPr id="82" name="직선 연결선 81"/>
          <p:cNvCxnSpPr/>
          <p:nvPr/>
        </p:nvCxnSpPr>
        <p:spPr>
          <a:xfrm rot="16200000">
            <a:off x="361420" y="3018895"/>
            <a:ext cx="6826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702732" y="2673350"/>
            <a:ext cx="46465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rot="16200000" flipH="1">
            <a:off x="4991477" y="3003078"/>
            <a:ext cx="6935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rot="16200000">
            <a:off x="6356828" y="3024137"/>
            <a:ext cx="6721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>
            <a:off x="6682315" y="2683933"/>
            <a:ext cx="17755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rot="16200000" flipH="1">
            <a:off x="8082312" y="3061768"/>
            <a:ext cx="747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>
            <a:endCxn id="75" idx="0"/>
          </p:cNvCxnSpPr>
          <p:nvPr/>
        </p:nvCxnSpPr>
        <p:spPr>
          <a:xfrm rot="16200000" flipH="1">
            <a:off x="5211551" y="3084723"/>
            <a:ext cx="422693" cy="148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rot="5400000">
            <a:off x="5064126" y="3073399"/>
            <a:ext cx="391582" cy="158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 rot="16200000" flipH="1">
            <a:off x="6559869" y="3095626"/>
            <a:ext cx="422693" cy="148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rot="5400000">
            <a:off x="6423025" y="3090332"/>
            <a:ext cx="391582" cy="158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25941" y="1774507"/>
            <a:ext cx="11950701" cy="823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[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문제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]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SQL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 문으로 테이블 관계를 포함 생성하세요</a:t>
            </a:r>
          </a:p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-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db 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는 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testdb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에서 진행한다</a:t>
            </a:r>
          </a:p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-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 외래키 옵션은 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update cascade,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1600">
                <a:solidFill>
                  <a:srgbClr val="808080"/>
                </a:solidFill>
                <a:latin typeface="나눔고딕"/>
                <a:ea typeface="나눔고딕"/>
              </a:rPr>
              <a:t>delete cascade </a:t>
            </a:r>
            <a:r>
              <a:rPr lang="ko-KR" altLang="en-US" sz="1600">
                <a:solidFill>
                  <a:srgbClr val="808080"/>
                </a:solidFill>
                <a:latin typeface="나눔고딕"/>
                <a:ea typeface="나눔고딕"/>
              </a:rPr>
              <a:t>로 설정한다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84495"/>
            <a:chOff x="527769" y="1728426"/>
            <a:chExt cx="5187231" cy="1884495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23"/>
              <a:ext cx="3114955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UNIQUE</a:t>
              </a:r>
              <a:r>
                <a:rPr lang="ko-KR" altLang="en-US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 제약조건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515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5" y="654596"/>
            <a:ext cx="3237810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UNIQUE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제약 조건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21421" y="2200486"/>
          <a:ext cx="10050780" cy="14614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3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UNIQUE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제약 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중복되지 않는 유일한 값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NULL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값 허용</a:t>
                      </a:r>
                    </a:p>
                    <a:p>
                      <a:pPr>
                        <a:defRPr/>
                      </a:pP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보통 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email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주소를 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unique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로 설정하는 경우가 많음 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5" y="654596"/>
            <a:ext cx="3237810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UNIQUE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제약 조건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763649"/>
              </p:ext>
            </p:extLst>
          </p:nvPr>
        </p:nvGraphicFramePr>
        <p:xfrm>
          <a:off x="377488" y="1922143"/>
          <a:ext cx="10050780" cy="4831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02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TEST_06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sz="14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char(8) not null primary key,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name varchar(10)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sz="14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birthYear</a:t>
                      </a: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email char(30) null unique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  <a:p>
                      <a:pPr>
                        <a:defRPr/>
                      </a:pPr>
                      <a:endParaRPr lang="en-US" altLang="ko-KR" sz="14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 확인</a:t>
                      </a: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(C : </a:t>
                      </a:r>
                      <a:r>
                        <a:rPr lang="en-US" altLang="ko-KR" sz="14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check,not</a:t>
                      </a: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null , P : Primary key, R : foreign key , U : Unique)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ALL_CONSTRAINTS where TABLE_NAME='TEST_06';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 FROM ALL_CONS_COLUMNS WHERE CONSTRAINT_NAME = 'SYS_C007454';</a:t>
                      </a:r>
                    </a:p>
                    <a:p>
                      <a:pPr>
                        <a:defRPr/>
                      </a:pPr>
                      <a:endParaRPr lang="en-US" altLang="ko-KR" sz="14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TEST_07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</a:t>
                      </a:r>
                      <a:r>
                        <a:rPr lang="en-US" altLang="ko-KR" sz="14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char(8) not null primary key,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name varchar(10)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birthyear int not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email char(30) null,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constraint </a:t>
                      </a:r>
                      <a:r>
                        <a:rPr lang="en-US" altLang="ko-KR" sz="14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ak_email</a:t>
                      </a: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unique (email)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4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158998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941" y="2057292"/>
            <a:ext cx="11336866" cy="417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>
                <a:solidFill>
                  <a:srgbClr val="808080"/>
                </a:solidFill>
                <a:latin typeface="Consolas"/>
              </a:rPr>
              <a:t>-</a:t>
            </a:r>
            <a:r>
              <a:rPr lang="ko-KR" altLang="en-US" sz="2200">
                <a:solidFill>
                  <a:srgbClr val="808080"/>
                </a:solidFill>
                <a:latin typeface="Consolas"/>
              </a:rPr>
              <a:t> 다음 </a:t>
            </a:r>
            <a:r>
              <a:rPr lang="en-US" altLang="ko-KR" sz="2200">
                <a:solidFill>
                  <a:srgbClr val="808080"/>
                </a:solidFill>
                <a:latin typeface="Consolas"/>
              </a:rPr>
              <a:t>code </a:t>
            </a:r>
            <a:r>
              <a:rPr lang="ko-KR" altLang="en-US" sz="2200">
                <a:solidFill>
                  <a:srgbClr val="808080"/>
                </a:solidFill>
                <a:latin typeface="Consolas"/>
              </a:rPr>
              <a:t>열을 </a:t>
            </a:r>
            <a:r>
              <a:rPr lang="en-US" altLang="ko-KR" sz="2200">
                <a:solidFill>
                  <a:srgbClr val="808080"/>
                </a:solidFill>
                <a:latin typeface="Consolas"/>
              </a:rPr>
              <a:t>UNIQUE </a:t>
            </a:r>
            <a:r>
              <a:rPr lang="ko-KR" altLang="en-US" sz="2200">
                <a:solidFill>
                  <a:srgbClr val="808080"/>
                </a:solidFill>
                <a:latin typeface="Consolas"/>
              </a:rPr>
              <a:t>설정하세요 </a:t>
            </a:r>
            <a:r>
              <a:rPr lang="en-US" altLang="ko-KR" sz="2200">
                <a:solidFill>
                  <a:srgbClr val="808080"/>
                </a:solidFill>
                <a:latin typeface="Consolas"/>
              </a:rPr>
              <a:t>(UNIQUE</a:t>
            </a:r>
            <a:r>
              <a:rPr lang="ko-KR" altLang="en-US" sz="2200">
                <a:solidFill>
                  <a:srgbClr val="808080"/>
                </a:solidFill>
                <a:latin typeface="Consolas"/>
              </a:rPr>
              <a:t>명</a:t>
            </a:r>
            <a:r>
              <a:rPr lang="en-US" altLang="ko-KR" sz="2200">
                <a:solidFill>
                  <a:srgbClr val="808080"/>
                </a:solidFill>
                <a:latin typeface="Consolas"/>
              </a:rPr>
              <a:t>:AK_CODE)</a:t>
            </a: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713316" y="3339040"/>
          <a:ext cx="4556521" cy="2548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7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prodName</a:t>
                      </a:r>
                      <a:r>
                        <a:rPr lang="en-US" altLang="ko-KR" sz="1100" i="0" u="none" strike="noStrike">
                          <a:solidFill>
                            <a:srgbClr val="FF0000"/>
                          </a:solidFill>
                          <a:latin typeface="돋움"/>
                          <a:ea typeface="돋움"/>
                        </a:rPr>
                        <a:t>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price</a:t>
                      </a:r>
                      <a:endParaRPr lang="en-US" altLang="ko-KR" sz="1100" i="0" u="none" strike="noStrike">
                        <a:solidFill>
                          <a:srgbClr val="FF0000"/>
                        </a:solidFill>
                        <a:latin typeface="돋움"/>
                        <a:ea typeface="돋움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111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222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가방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100000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50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333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모자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15000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444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티셔츠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555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아우터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200000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155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727073" y="2976981"/>
            <a:ext cx="3600452" cy="336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Consolas"/>
              </a:rPr>
              <a:t>[</a:t>
            </a:r>
            <a:r>
              <a:rPr lang="ko-KR" altLang="en-US" sz="1600">
                <a:solidFill>
                  <a:srgbClr val="808080"/>
                </a:solidFill>
                <a:latin typeface="Consolas"/>
              </a:rPr>
              <a:t>제품테이블</a:t>
            </a:r>
            <a:r>
              <a:rPr lang="en-US" altLang="ko-KR" sz="1600">
                <a:solidFill>
                  <a:srgbClr val="808080"/>
                </a:solidFill>
                <a:latin typeface="Consolas"/>
              </a:rPr>
              <a:t>(productTbl)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53590" y="3097421"/>
            <a:ext cx="6214532" cy="2006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rgbClr val="BFBFBF"/>
                </a:solidFill>
                <a:latin typeface="Consolas"/>
              </a:rPr>
              <a:t>[</a:t>
            </a:r>
            <a:r>
              <a:rPr lang="ko-KR" altLang="en-US">
                <a:solidFill>
                  <a:srgbClr val="BFBFBF"/>
                </a:solidFill>
                <a:latin typeface="Consolas"/>
              </a:rPr>
              <a:t>답</a:t>
            </a:r>
            <a:r>
              <a:rPr lang="en-US" altLang="ko-KR">
                <a:solidFill>
                  <a:srgbClr val="BFBFBF"/>
                </a:solidFill>
                <a:latin typeface="Consolas"/>
              </a:rPr>
              <a:t>]</a:t>
            </a:r>
          </a:p>
          <a:p>
            <a:pPr>
              <a:defRPr/>
            </a:pPr>
            <a:r>
              <a:rPr lang="en-US" altLang="ko-KR">
                <a:solidFill>
                  <a:srgbClr val="BFBFBF"/>
                </a:solidFill>
                <a:latin typeface="Consolas"/>
              </a:rPr>
              <a:t>ALTER TABLE productTbl ADD  CONSTRAINT AK_CODE UNIQUE(code);</a:t>
            </a:r>
          </a:p>
          <a:p>
            <a:pPr>
              <a:defRPr/>
            </a:pPr>
            <a:endParaRPr lang="en-US" altLang="ko-KR">
              <a:solidFill>
                <a:srgbClr val="BFBFBF"/>
              </a:solidFill>
              <a:latin typeface="Consolas"/>
            </a:endParaRPr>
          </a:p>
          <a:p>
            <a:pPr>
              <a:defRPr/>
            </a:pPr>
            <a:r>
              <a:rPr lang="en-US" altLang="ko-KR">
                <a:solidFill>
                  <a:srgbClr val="BFBFBF"/>
                </a:solidFill>
                <a:latin typeface="Consolas"/>
              </a:rPr>
              <a:t>select * from information_schema.table_constraints</a:t>
            </a:r>
          </a:p>
          <a:p>
            <a:pPr>
              <a:defRPr/>
            </a:pPr>
            <a:r>
              <a:rPr lang="en-US" altLang="ko-KR">
                <a:solidFill>
                  <a:srgbClr val="BFBFBF"/>
                </a:solidFill>
                <a:latin typeface="Consolas"/>
              </a:rPr>
              <a:t>where table_name='productTbl' 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5" y="654596"/>
            <a:ext cx="3104460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CHECK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제약 조건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21421" y="1925319"/>
          <a:ext cx="10050780" cy="9275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7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CHECK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1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입력되는 데이터를 점검하는 기능 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895535"/>
              </p:ext>
            </p:extLst>
          </p:nvPr>
        </p:nvGraphicFramePr>
        <p:xfrm>
          <a:off x="515071" y="2850303"/>
          <a:ext cx="10050780" cy="34899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7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1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출생년도가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1900 년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이후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그리고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2023년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이전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이름은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반드시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넣어야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함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TEST_09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char(8) primary key,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	name varchar(10),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birthyear int check (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birthYear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&gt;= 1900 and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birthYear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&lt;=2023),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mobile1 char(3) null,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 constraint 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CK_name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CHECK (name is NOT NULL)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 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제약 조건 확인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(C :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check,not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null , P : Primary key, R : foreign key , U : Unique)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ALL_CONSTRAINTS where TABLE_NAME='TEST_09';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 FROM ALL_CONS_COLUMNS WHERE CONSTRAINT_NAME = 'SYS_C007455';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158998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6857" y="5528625"/>
            <a:ext cx="9442454" cy="107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rgbClr val="808080"/>
                </a:solidFill>
                <a:latin typeface="Consolas"/>
              </a:rPr>
              <a:t>1 amount 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열에 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1-100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사이의값으로 제약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(CHECK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명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:ck_amount)</a:t>
            </a:r>
          </a:p>
          <a:p>
            <a:pPr>
              <a:defRPr/>
            </a:pPr>
            <a:endParaRPr lang="en-US" altLang="en-US" sz="1400">
              <a:solidFill>
                <a:srgbClr val="F2F2F2"/>
              </a:solidFill>
              <a:latin typeface="Consolas"/>
            </a:endParaRPr>
          </a:p>
          <a:p>
            <a:pPr>
              <a:defRPr/>
            </a:pPr>
            <a:r>
              <a:rPr lang="en-US" altLang="ko-KR">
                <a:solidFill>
                  <a:srgbClr val="808080"/>
                </a:solidFill>
                <a:latin typeface="Consolas"/>
              </a:rPr>
              <a:t>2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 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grade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에 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‘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일반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’,’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실버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’,’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골드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’,’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다이아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’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만 입력되도록 제약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(CHECK</a:t>
            </a:r>
            <a:r>
              <a:rPr lang="ko-KR" altLang="en-US">
                <a:solidFill>
                  <a:srgbClr val="808080"/>
                </a:solidFill>
                <a:latin typeface="Consolas"/>
              </a:rPr>
              <a:t>명</a:t>
            </a:r>
            <a:r>
              <a:rPr lang="en-US" altLang="ko-KR">
                <a:solidFill>
                  <a:srgbClr val="808080"/>
                </a:solidFill>
                <a:latin typeface="Consolas"/>
              </a:rPr>
              <a:t>:ck_grade)</a:t>
            </a:r>
          </a:p>
          <a:p>
            <a:pPr>
              <a:defRPr/>
            </a:pPr>
            <a:endParaRPr lang="ko-KR" altLang="ko-KR" sz="1400">
              <a:solidFill>
                <a:srgbClr val="F2F2F2"/>
              </a:solidFill>
              <a:latin typeface="Consolas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677334" y="2565188"/>
          <a:ext cx="5887570" cy="2548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9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37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79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9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userid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add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order</a:t>
                      </a:r>
                      <a:r>
                        <a:rPr lang="en-US" altLang="ko-KR" sz="1100" i="0" u="none" strike="noStrike">
                          <a:solidFill>
                            <a:srgbClr val="203A7B"/>
                          </a:solidFill>
                          <a:latin typeface="돋움"/>
                          <a:ea typeface="돋움"/>
                        </a:rPr>
                        <a:t>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KHC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김희철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서울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일반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010-111-1111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LYJ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이영자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부산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실버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010-222-2222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가방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PHS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박효신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대구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골드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010-333-3333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모자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IU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아이유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속초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다이아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010-444-4444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SNE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손나은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울산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일반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010-555-5555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아우터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627591" y="2139628"/>
            <a:ext cx="3600451" cy="336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Consolas"/>
              </a:rPr>
              <a:t>[</a:t>
            </a:r>
            <a:r>
              <a:rPr lang="ko-KR" altLang="en-US" sz="1600">
                <a:solidFill>
                  <a:srgbClr val="808080"/>
                </a:solidFill>
                <a:latin typeface="Consolas"/>
              </a:rPr>
              <a:t>고객주문테이블</a:t>
            </a:r>
            <a:r>
              <a:rPr lang="en-US" altLang="ko-KR" sz="1600">
                <a:solidFill>
                  <a:srgbClr val="808080"/>
                </a:solidFill>
                <a:latin typeface="Consolas"/>
              </a:rPr>
              <a:t>(customerTbl)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158998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5" name="표 74"/>
          <p:cNvGraphicFramePr>
            <a:graphicFrameLocks noGrp="1"/>
          </p:cNvGraphicFramePr>
          <p:nvPr/>
        </p:nvGraphicFramePr>
        <p:xfrm>
          <a:off x="377488" y="2181260"/>
          <a:ext cx="11066781" cy="349757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066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13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Consolas"/>
                        </a:rPr>
                        <a:t>-- 1 amount 열에 1-100사이의값으로 제약(CHECK명:ck_amount)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Consolas"/>
                        </a:rPr>
                        <a:t>ALTER TABLE customerTbl ADD CONSTRAINT ck_amount CHECK(amount&gt;=1 OR amount &lt;= 100);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Consolas"/>
                        </a:rPr>
                        <a:t>-- 2 grade에 ‘일반’,’실버’,’골드’,’다이아’만 입력되도록 제약(CHECK명:ck_grade)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Consolas"/>
                        </a:rPr>
                        <a:t>ALTER TABLE customerTbl ADD CONSTRAINT ck_grade CHECK(grade IN('일반','실버','골드','다이아'));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Consolas"/>
                        </a:rPr>
                        <a:t>--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Consolas"/>
                        </a:rPr>
                        <a:t> 확인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Consolas"/>
                        </a:rPr>
                        <a:t>select * from information_schema.table_constraints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Consolas"/>
                        </a:rPr>
                        <a:t>where table_name='customerTbl' ;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Consola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84495"/>
            <a:chOff x="527769" y="1728426"/>
            <a:chExt cx="5187231" cy="1884495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23"/>
              <a:ext cx="2172390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Default </a:t>
              </a:r>
              <a:r>
                <a:rPr lang="ko-KR" altLang="en-US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설정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4769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3333060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DEFAULT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제약 조건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21421" y="1925319"/>
          <a:ext cx="10050780" cy="9275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7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DEFAULT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정의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1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값을 입력하지 않았을 때 자동으로 입력되는 기본값을 정의 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04219"/>
              </p:ext>
            </p:extLst>
          </p:nvPr>
        </p:nvGraphicFramePr>
        <p:xfrm>
          <a:off x="521421" y="3029507"/>
          <a:ext cx="10050780" cy="20269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05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7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DEFAULT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설정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desc test_01;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ALTER TABLE test_01 MODIFY (name DEFAULT '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없음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');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commit;</a:t>
                      </a:r>
                    </a:p>
                    <a:p>
                      <a:pPr>
                        <a:defRPr/>
                      </a:pPr>
                      <a:endParaRPr lang="en-US" altLang="en-US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test_01 values('</a:t>
                      </a:r>
                      <a:r>
                        <a:rPr lang="en-US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aaa</a:t>
                      </a: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',default);</a:t>
                      </a:r>
                    </a:p>
                    <a:p>
                      <a:pPr>
                        <a:defRPr/>
                      </a:pPr>
                      <a:r>
                        <a:rPr lang="en-US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test_01;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7" y="654596"/>
            <a:ext cx="158998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6857" y="5528625"/>
            <a:ext cx="9442454" cy="118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ko-KR">
                <a:solidFill>
                  <a:srgbClr val="808080"/>
                </a:solidFill>
                <a:latin typeface="Consolas"/>
              </a:rPr>
              <a:t>-- 1 grade에 DEFAULT값을 ‘일반’으로 설정(DEFAULT명:df_grade)</a:t>
            </a:r>
          </a:p>
          <a:p>
            <a:pPr>
              <a:defRPr/>
            </a:pPr>
            <a:r>
              <a:rPr lang="ko-KR" altLang="ko-KR">
                <a:solidFill>
                  <a:srgbClr val="F2F2F2"/>
                </a:solidFill>
                <a:latin typeface="Consolas"/>
              </a:rPr>
              <a:t>ALTER TABLE customerTbl alter column df_grade set default '일반';</a:t>
            </a:r>
            <a:endParaRPr lang="ko-KR" altLang="ko-KR">
              <a:solidFill>
                <a:srgbClr val="808080"/>
              </a:solidFill>
              <a:latin typeface="Consolas"/>
            </a:endParaRPr>
          </a:p>
          <a:p>
            <a:pPr>
              <a:defRPr/>
            </a:pPr>
            <a:r>
              <a:rPr lang="ko-KR" altLang="ko-KR">
                <a:solidFill>
                  <a:srgbClr val="808080"/>
                </a:solidFill>
                <a:latin typeface="Consolas"/>
              </a:rPr>
              <a:t>-- 2 addr에 DEFAULT값을 ‘대구’로 설정(DEFAULT명:df_addr)</a:t>
            </a:r>
          </a:p>
          <a:p>
            <a:pPr>
              <a:defRPr/>
            </a:pPr>
            <a:r>
              <a:rPr lang="ko-KR" altLang="ko-KR">
                <a:solidFill>
                  <a:srgbClr val="F2F2F2"/>
                </a:solidFill>
                <a:latin typeface="Consolas"/>
              </a:rPr>
              <a:t>ALTER TABLE customerTbl alter column df_addr set default '대구';</a:t>
            </a: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677334" y="2565188"/>
          <a:ext cx="5887570" cy="2548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9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37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79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9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userid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add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order</a:t>
                      </a:r>
                      <a:r>
                        <a:rPr lang="en-US" altLang="ko-KR" sz="1100" i="0" u="none" strike="noStrike">
                          <a:solidFill>
                            <a:srgbClr val="203A7B"/>
                          </a:solidFill>
                          <a:latin typeface="돋움"/>
                          <a:ea typeface="돋움"/>
                        </a:rPr>
                        <a:t>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KHC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김희철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서울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일반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010-111-1111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LYJ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이영자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부산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실버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010-222-2222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가방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PHS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박효신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대구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골드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010-333-3333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모자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IU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아이유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속초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다이아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010-444-4444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신발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SNE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손나은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울산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일반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010-555-5555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아우터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100" b="0" i="0" u="none" strike="noStrike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</a:t>
                      </a:r>
                    </a:p>
                  </a:txBody>
                  <a:tcPr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627591" y="2139628"/>
            <a:ext cx="3600451" cy="336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solidFill>
                  <a:srgbClr val="808080"/>
                </a:solidFill>
                <a:latin typeface="Consolas"/>
              </a:rPr>
              <a:t>[</a:t>
            </a:r>
            <a:r>
              <a:rPr lang="ko-KR" altLang="en-US" sz="1600">
                <a:solidFill>
                  <a:srgbClr val="808080"/>
                </a:solidFill>
                <a:latin typeface="Consolas"/>
              </a:rPr>
              <a:t>고객주문테이블</a:t>
            </a:r>
            <a:r>
              <a:rPr lang="en-US" altLang="ko-KR" sz="1600">
                <a:solidFill>
                  <a:srgbClr val="808080"/>
                </a:solidFill>
                <a:latin typeface="Consolas"/>
              </a:rPr>
              <a:t>(customerTbl)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841851" cy="7521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rPr>
              <a:t>고생하셨습니다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767" y="2211262"/>
            <a:ext cx="3068873" cy="13015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E N</a:t>
            </a:r>
            <a:r>
              <a:rPr lang="ko-KR" altLang="en-US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 </a:t>
            </a: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D.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2360</Words>
  <Application>Microsoft Office PowerPoint</Application>
  <PresentationFormat>와이드스크린</PresentationFormat>
  <Paragraphs>628</Paragraphs>
  <Slides>34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나눔고딕</vt:lpstr>
      <vt:lpstr>나눔스퀘어라운드 Regular</vt:lpstr>
      <vt:lpstr>돋움</vt:lpstr>
      <vt:lpstr>함초롬돋움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691</cp:revision>
  <dcterms:created xsi:type="dcterms:W3CDTF">2015-07-07T04:48:58Z</dcterms:created>
  <dcterms:modified xsi:type="dcterms:W3CDTF">2022-05-02T15:03:18Z</dcterms:modified>
  <cp:version>1000.0000.01</cp:version>
</cp:coreProperties>
</file>