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9" autoAdjust="0"/>
    <p:restoredTop sz="88290"/>
  </p:normalViewPr>
  <p:slideViewPr>
    <p:cSldViewPr snapToGrid="0" showGuides="1">
      <p:cViewPr varScale="1">
        <p:scale>
          <a:sx n="55" d="100"/>
          <a:sy n="55" d="100"/>
        </p:scale>
        <p:origin x="67" y="302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4/27/2022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3"/>
            <a:chOff x="527768" y="1560897"/>
            <a:chExt cx="5187232" cy="2184590"/>
          </a:xfrm>
        </p:grpSpPr>
        <p:sp>
          <p:nvSpPr>
            <p:cNvPr id="18" name="TextBox 17"/>
            <p:cNvSpPr txBox="1"/>
            <p:nvPr/>
          </p:nvSpPr>
          <p:spPr>
            <a:xfrm>
              <a:off x="558045" y="3058913"/>
              <a:ext cx="5035889" cy="686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SELECT </a:t>
              </a: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옵션</a:t>
              </a: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4.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2" y="654596"/>
            <a:ext cx="203765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GROUP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BY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44688"/>
              </p:ext>
            </p:extLst>
          </p:nvPr>
        </p:nvGraphicFramePr>
        <p:xfrm>
          <a:off x="614420" y="2324505"/>
          <a:ext cx="10212705" cy="11695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GROUP BY - 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데이터의 그룹화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userID,amount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ORDER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userID,SUM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(amount)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GROUP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65904"/>
              </p:ext>
            </p:extLst>
          </p:nvPr>
        </p:nvGraphicFramePr>
        <p:xfrm>
          <a:off x="609600" y="4118447"/>
          <a:ext cx="10228064" cy="11695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8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GROUP BY +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별칭 지정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userID,SUM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(amount) as "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별칭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" 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GROUP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AS "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사용자 아이디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" , sum(price*amount) AS "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총구매액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"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group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2" y="654596"/>
            <a:ext cx="203765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GROUP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BY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563755" y="2576411"/>
          <a:ext cx="6275710" cy="3088697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203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2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3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함수명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75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AVG()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평균을 구한다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75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MIN()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최소값을 구한다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75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MAX()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최대값을 구한다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75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COUNT()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행의 개수를 센다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75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COUNT(DISTINCT)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개수를 센다</a:t>
                      </a: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.</a:t>
                      </a: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중복은 </a:t>
                      </a: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</a:t>
                      </a: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개만 인정</a:t>
                      </a: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75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STDEV()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표준편차를 구한다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75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VAR()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150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분산을 구한다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1095375" y="2238374"/>
            <a:ext cx="5408620" cy="365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>
              <a:latin typeface="나눔고딕"/>
              <a:ea typeface="나눔고딕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11309" y="2033688"/>
            <a:ext cx="1618481" cy="4694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2500">
                <a:solidFill>
                  <a:srgbClr val="808080"/>
                </a:solidFill>
                <a:latin typeface="나눔고딕"/>
                <a:ea typeface="나눔고딕"/>
              </a:rPr>
              <a:t>[</a:t>
            </a:r>
            <a:r>
              <a:rPr lang="ko-KR" altLang="en-US" sz="2500">
                <a:solidFill>
                  <a:srgbClr val="808080"/>
                </a:solidFill>
                <a:latin typeface="나눔고딕"/>
                <a:ea typeface="나눔고딕"/>
              </a:rPr>
              <a:t>집계함수</a:t>
            </a:r>
            <a:r>
              <a:rPr lang="en-US" altLang="ko-KR" sz="2500">
                <a:solidFill>
                  <a:srgbClr val="808080"/>
                </a:solidFill>
                <a:latin typeface="나눔고딕"/>
                <a:ea typeface="나눔고딕"/>
              </a:rPr>
              <a:t>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2" y="654596"/>
            <a:ext cx="203765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GROUP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BY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149015"/>
              </p:ext>
            </p:extLst>
          </p:nvPr>
        </p:nvGraphicFramePr>
        <p:xfrm>
          <a:off x="614420" y="2324505"/>
          <a:ext cx="10212705" cy="16611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AVG()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AVG(amount) AS [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평균구매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개수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]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AVG(amount) as '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평균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구매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개수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userid,AVG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(amount) as '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평균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구매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개수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group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905192"/>
              </p:ext>
            </p:extLst>
          </p:nvPr>
        </p:nvGraphicFramePr>
        <p:xfrm>
          <a:off x="627037" y="4386088"/>
          <a:ext cx="10212705" cy="11695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MAX(),MIN()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AVG(amount*1.0) AS "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평균구매 개수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"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trunc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(AVG(amount),5) AS "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평균구매 개수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"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2" y="654596"/>
            <a:ext cx="203765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GROUP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BY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614420" y="2324505"/>
          <a:ext cx="10212705" cy="11695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응용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usertbl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가장 큰키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,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가장 작은키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name,height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height=(select Max(height)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or height=(select min(height)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355817"/>
              </p:ext>
            </p:extLst>
          </p:nvPr>
        </p:nvGraphicFramePr>
        <p:xfrm>
          <a:off x="627037" y="4386088"/>
          <a:ext cx="10212705" cy="17526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68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count(*)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6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count(*)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  -- count(*) 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전체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행개수</a:t>
                      </a:r>
                      <a:endParaRPr lang="ko-KR" alt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count(mobile1) as '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휴대폰이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있는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사용자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--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count(mobile1):null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을 제외한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행개수</a:t>
                      </a:r>
                      <a:endParaRPr lang="ko-KR" alt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29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2" y="654596"/>
            <a:ext cx="1685228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 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7262" y="2195355"/>
            <a:ext cx="9893880" cy="222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1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buytbl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에서 </a:t>
            </a: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userid 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별로 구매량</a:t>
            </a: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(amount)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의 합을 출력하세요</a:t>
            </a:r>
          </a:p>
          <a:p>
            <a:pPr>
              <a:defRPr/>
            </a:pPr>
            <a:endParaRPr lang="ko-KR" altLang="en-US" sz="2000" b="1">
              <a:solidFill>
                <a:srgbClr val="808080"/>
              </a:solidFill>
              <a:latin typeface="나눔고딕"/>
              <a:ea typeface="나눔고딕"/>
            </a:endParaRPr>
          </a:p>
          <a:p>
            <a:pPr>
              <a:defRPr/>
            </a:pP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2 usertbl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에서 키의 평균값을 구하세요</a:t>
            </a:r>
          </a:p>
          <a:p>
            <a:pPr>
              <a:defRPr/>
            </a:pPr>
            <a:endParaRPr lang="ko-KR" altLang="en-US" sz="2000" b="1">
              <a:solidFill>
                <a:srgbClr val="808080"/>
              </a:solidFill>
              <a:latin typeface="나눔고딕"/>
              <a:ea typeface="나눔고딕"/>
            </a:endParaRPr>
          </a:p>
          <a:p>
            <a:pPr>
              <a:defRPr/>
            </a:pP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3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buy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테이블에서</a:t>
            </a: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최대구매량과 최소구매량을 </a:t>
            </a: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userid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와함께 출력하세요</a:t>
            </a:r>
          </a:p>
          <a:p>
            <a:pPr>
              <a:defRPr/>
            </a:pPr>
            <a:endParaRPr lang="ko-KR" altLang="en-US" sz="2000" b="1">
              <a:solidFill>
                <a:srgbClr val="808080"/>
              </a:solidFill>
              <a:latin typeface="나눔고딕"/>
              <a:ea typeface="나눔고딕"/>
            </a:endParaRPr>
          </a:p>
          <a:p>
            <a:pPr>
              <a:defRPr/>
            </a:pP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4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buytbl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의 </a:t>
            </a:r>
            <a:r>
              <a:rPr lang="en-US" altLang="ko-KR" sz="2000" b="1">
                <a:solidFill>
                  <a:srgbClr val="808080"/>
                </a:solidFill>
                <a:latin typeface="나눔고딕"/>
                <a:ea typeface="나눔고딕"/>
              </a:rPr>
              <a:t>groupname</a:t>
            </a:r>
            <a:r>
              <a:rPr lang="ko-KR" altLang="en-US" sz="2000" b="1">
                <a:solidFill>
                  <a:srgbClr val="808080"/>
                </a:solidFill>
                <a:latin typeface="나눔고딕"/>
                <a:ea typeface="나눔고딕"/>
              </a:rPr>
              <a:t> 의 개수를 출력하세요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3"/>
            <a:chOff x="527768" y="1560897"/>
            <a:chExt cx="5187232" cy="2184590"/>
          </a:xfrm>
        </p:grpSpPr>
        <p:sp>
          <p:nvSpPr>
            <p:cNvPr id="18" name="TextBox 17"/>
            <p:cNvSpPr txBox="1"/>
            <p:nvPr/>
          </p:nvSpPr>
          <p:spPr>
            <a:xfrm>
              <a:off x="558045" y="3058913"/>
              <a:ext cx="5035889" cy="686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SELECT </a:t>
              </a: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옵션</a:t>
              </a: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03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5.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504254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HAVING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34017"/>
              </p:ext>
            </p:extLst>
          </p:nvPr>
        </p:nvGraphicFramePr>
        <p:xfrm>
          <a:off x="614420" y="2324505"/>
          <a:ext cx="10650855" cy="352402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65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938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HAVING -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집계함수에 대한 조건절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17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오류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userid,sum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(price*amount) as "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총구매액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"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where sum(price*mount) &gt;1000 group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;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집계함수는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절에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쓸수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없다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정정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userid,sum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(price*amount) as "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총구매액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"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group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Having sum(price*amount) &gt; 1000;</a:t>
                      </a:r>
                    </a:p>
                    <a:p>
                      <a:pPr>
                        <a:defRPr/>
                      </a:pPr>
                      <a:endParaRPr lang="en-US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주의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: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Having 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은 반드시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group by 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뒤에서 사용해야한다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504254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HAVING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635090" y="2073415"/>
          <a:ext cx="10212705" cy="1386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HAVING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userid,sum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(price*amount) as '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총구매액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 group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having sum(price*amount) &gt; 1000</a:t>
                      </a:r>
                    </a:p>
                    <a:p>
                      <a:pPr>
                        <a:defRPr/>
                      </a:pPr>
                      <a:r>
                        <a:rPr lang="en-US" altLang="ko-KR" b="1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order by Sum(price*amount);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2" y="654596"/>
            <a:ext cx="180905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ROLLUP()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730658"/>
              </p:ext>
            </p:extLst>
          </p:nvPr>
        </p:nvGraphicFramePr>
        <p:xfrm>
          <a:off x="614420" y="2324505"/>
          <a:ext cx="10212705" cy="11125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Consolas"/>
                          <a:ea typeface="안상수2006가는"/>
                        </a:rPr>
                        <a:t>ROLLUP()</a:t>
                      </a:r>
                      <a:r>
                        <a:rPr lang="ko-KR" altLang="en-US" sz="2500">
                          <a:latin typeface="Consolas"/>
                          <a:ea typeface="안상수2006가는"/>
                        </a:rPr>
                        <a:t> </a:t>
                      </a:r>
                      <a:r>
                        <a:rPr lang="en-US" altLang="ko-KR" sz="2500">
                          <a:latin typeface="Consolas"/>
                          <a:ea typeface="안상수2006가는"/>
                        </a:rPr>
                        <a:t>-</a:t>
                      </a:r>
                      <a:r>
                        <a:rPr lang="ko-KR" altLang="en-US" sz="2500">
                          <a:latin typeface="Consolas"/>
                          <a:ea typeface="안상수2006가는"/>
                        </a:rPr>
                        <a:t> 소합계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29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select 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Consolas"/>
                        </a:rPr>
                        <a:t>num,groupName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, SUM(price*amount) AS "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Consolas"/>
                        </a:rPr>
                        <a:t>비용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"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Consolas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GROUP BY Rollup(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Consolas"/>
                        </a:rPr>
                        <a:t>groupName,num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7284" y="3429000"/>
            <a:ext cx="1652476" cy="3257284"/>
          </a:xfrm>
          <a:prstGeom prst="rect">
            <a:avLst/>
          </a:prstGeom>
        </p:spPr>
      </p:pic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2398230" y="3844857"/>
          <a:ext cx="8388767" cy="118980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8388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06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Consolas"/>
                          <a:ea typeface="안상수2006가는"/>
                        </a:rPr>
                        <a:t>ROLLUP()</a:t>
                      </a:r>
                      <a:r>
                        <a:rPr lang="ko-KR" altLang="en-US" sz="2500">
                          <a:latin typeface="Consolas"/>
                          <a:ea typeface="안상수2006가는"/>
                        </a:rPr>
                        <a:t> </a:t>
                      </a:r>
                      <a:r>
                        <a:rPr lang="en-US" altLang="ko-KR" sz="2500">
                          <a:latin typeface="Consolas"/>
                          <a:ea typeface="안상수2006가는"/>
                        </a:rPr>
                        <a:t>-</a:t>
                      </a:r>
                      <a:r>
                        <a:rPr lang="ko-KR" altLang="en-US" sz="2500">
                          <a:latin typeface="Consolas"/>
                          <a:ea typeface="안상수2006가는"/>
                        </a:rPr>
                        <a:t> 총합계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17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select 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Consolas"/>
                        </a:rPr>
                        <a:t>num,groupName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, SUM(price*amount) AS '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Consolas"/>
                        </a:rPr>
                        <a:t>비용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'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Consolas"/>
                        </a:rPr>
                        <a:t>buyTbl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GROUP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Consolas"/>
                        </a:rPr>
                        <a:t>groupName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rgbClr val="808080"/>
                          </a:solidFill>
                          <a:latin typeface="Consolas"/>
                        </a:rPr>
                        <a:t>With ROLLUP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Consolas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499692" y="5068409"/>
            <a:ext cx="1619476" cy="1524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2" y="654596"/>
            <a:ext cx="1685228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 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28600" y="1908353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1400">
              <a:latin typeface="나눔고딕"/>
              <a:ea typeface="나눔고딕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044070" y="2295565"/>
            <a:ext cx="7955403" cy="4112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1. prodName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별로 그룹화 한뒤 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userID / prodName/Price*amount 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순으로 출력될 수 있도록 설정</a:t>
            </a:r>
          </a:p>
          <a:p>
            <a:pPr>
              <a:defRPr/>
            </a:pPr>
            <a:r>
              <a:rPr lang="en-US" altLang="en-US" sz="1200">
                <a:solidFill>
                  <a:srgbClr val="F2F2F2"/>
                </a:solidFill>
                <a:latin typeface="나눔고딕"/>
                <a:ea typeface="나눔고딕"/>
              </a:rPr>
              <a:t>SELECT userid,prodName ,SUM(price*amount) AS '총합' FROM buyTbl GROUP BY userid,prodName </a:t>
            </a:r>
          </a:p>
          <a:p>
            <a:pPr>
              <a:defRPr/>
            </a:pPr>
            <a:endParaRPr lang="en-US" altLang="ko-KR" sz="1400" b="1">
              <a:solidFill>
                <a:srgbClr val="808080"/>
              </a:solidFill>
              <a:latin typeface="나눔고딕"/>
              <a:ea typeface="나눔고딕"/>
            </a:endParaRPr>
          </a:p>
          <a:p>
            <a:pPr>
              <a:defRPr/>
            </a:pP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2.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1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 번 명령어에서 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price*amount 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값이 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1000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이상인 행만 출력</a:t>
            </a:r>
          </a:p>
          <a:p>
            <a:pPr>
              <a:defRPr/>
            </a:pPr>
            <a:r>
              <a:rPr lang="en-US" altLang="en-US" sz="1400">
                <a:solidFill>
                  <a:srgbClr val="F2F2F2"/>
                </a:solidFill>
                <a:latin typeface="나눔고딕"/>
                <a:ea typeface="나눔고딕"/>
              </a:rPr>
              <a:t>SELECT userid,prodName ,SUM(price*amount) AS '총합' FROM buyTbl GROUP BY userid,prodName HAVING SUM(price*amount)&gt;=1000 </a:t>
            </a:r>
          </a:p>
          <a:p>
            <a:pPr>
              <a:defRPr/>
            </a:pPr>
            <a:endParaRPr lang="en-US" altLang="en-US" sz="1400">
              <a:solidFill>
                <a:srgbClr val="F2F2F2"/>
              </a:solidFill>
              <a:latin typeface="나눔고딕"/>
              <a:ea typeface="나눔고딕"/>
            </a:endParaRPr>
          </a:p>
          <a:p>
            <a:pPr>
              <a:defRPr/>
            </a:pPr>
            <a:endParaRPr lang="en-US" altLang="ko-KR" sz="1400" b="1">
              <a:solidFill>
                <a:srgbClr val="808080"/>
              </a:solidFill>
              <a:latin typeface="나눔고딕"/>
              <a:ea typeface="나눔고딕"/>
            </a:endParaRPr>
          </a:p>
          <a:p>
            <a:pPr>
              <a:defRPr/>
            </a:pP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3.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price 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가격이 가장 큰 행과 작은 행의 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userid ,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 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prodName,price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을 출력</a:t>
            </a:r>
          </a:p>
          <a:p>
            <a:pPr>
              <a:defRPr/>
            </a:pPr>
            <a:r>
              <a:rPr lang="en-US" altLang="ko-KR" sz="1400">
                <a:solidFill>
                  <a:srgbClr val="F2F2F2"/>
                </a:solidFill>
                <a:latin typeface="나눔고딕"/>
                <a:ea typeface="나눔고딕"/>
              </a:rPr>
              <a:t>SELECT userId,prodName,price FROM buyTbl  WHERE price=(SELECT MAX(price) FROM buyTbl)  OR price=(SELECT MIN(price) FROM buytbl)</a:t>
            </a:r>
          </a:p>
          <a:p>
            <a:pPr>
              <a:defRPr/>
            </a:pP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4.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 다음 행중에 그룹네임이 있는 행만 출력</a:t>
            </a:r>
          </a:p>
          <a:p>
            <a:pPr>
              <a:defRPr/>
            </a:pPr>
            <a:r>
              <a:rPr lang="ko-KR" altLang="en-US" sz="1400">
                <a:solidFill>
                  <a:srgbClr val="F2F2F2"/>
                </a:solidFill>
                <a:latin typeface="나눔고딕"/>
                <a:ea typeface="나눔고딕"/>
              </a:rPr>
              <a:t>답 </a:t>
            </a:r>
            <a:r>
              <a:rPr lang="en-US" altLang="ko-KR" sz="1400">
                <a:solidFill>
                  <a:srgbClr val="F2F2F2"/>
                </a:solidFill>
                <a:latin typeface="나눔고딕"/>
                <a:ea typeface="나눔고딕"/>
              </a:rPr>
              <a:t>:</a:t>
            </a:r>
            <a:r>
              <a:rPr lang="ko-KR" altLang="en-US" sz="1400">
                <a:solidFill>
                  <a:srgbClr val="F2F2F2"/>
                </a:solidFill>
                <a:latin typeface="나눔고딕"/>
                <a:ea typeface="나눔고딕"/>
              </a:rPr>
              <a:t> </a:t>
            </a:r>
            <a:r>
              <a:rPr lang="en-US" altLang="en-US" sz="1400">
                <a:solidFill>
                  <a:srgbClr val="F2F2F2"/>
                </a:solidFill>
                <a:latin typeface="나눔고딕"/>
                <a:ea typeface="나눔고딕"/>
              </a:rPr>
              <a:t>SELECT COUNT(groupName) FROM buyTbl</a:t>
            </a:r>
          </a:p>
          <a:p>
            <a:pPr>
              <a:defRPr/>
            </a:pPr>
            <a:endParaRPr lang="en-US" altLang="en-US" sz="1400">
              <a:solidFill>
                <a:srgbClr val="F2F2F2"/>
              </a:solidFill>
              <a:latin typeface="나눔고딕"/>
              <a:ea typeface="나눔고딕"/>
            </a:endParaRPr>
          </a:p>
          <a:p>
            <a:pPr>
              <a:defRPr/>
            </a:pP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5 prodName 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별로 총합을 구해보세요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(ROLLUP</a:t>
            </a:r>
            <a:r>
              <a:rPr lang="ko-KR" altLang="en-US" sz="1400" b="1">
                <a:solidFill>
                  <a:srgbClr val="808080"/>
                </a:solidFill>
                <a:latin typeface="나눔고딕"/>
                <a:ea typeface="나눔고딕"/>
              </a:rPr>
              <a:t> 사용</a:t>
            </a:r>
            <a:r>
              <a:rPr lang="en-US" altLang="ko-KR" sz="1400" b="1">
                <a:solidFill>
                  <a:srgbClr val="808080"/>
                </a:solidFill>
                <a:latin typeface="나눔고딕"/>
                <a:ea typeface="나눔고딕"/>
              </a:rPr>
              <a:t>)</a:t>
            </a:r>
            <a:r>
              <a:rPr lang="en-US" altLang="en-US" sz="1400" b="1">
                <a:solidFill>
                  <a:schemeClr val="lt1"/>
                </a:solidFill>
                <a:latin typeface="나눔고딕"/>
                <a:ea typeface="나눔고딕"/>
              </a:rPr>
              <a:t>SELECT prodName ,SUM(price*aOM </a:t>
            </a:r>
          </a:p>
          <a:p>
            <a:pPr>
              <a:defRPr/>
            </a:pPr>
            <a:r>
              <a:rPr lang="en-US" altLang="ko-KR" sz="1400" b="1">
                <a:solidFill>
                  <a:srgbClr val="F2F2F2"/>
                </a:solidFill>
                <a:latin typeface="나눔고딕"/>
                <a:ea typeface="나눔고딕"/>
              </a:rPr>
              <a:t>SELECT prodName ,SUM(price*amount) AS '합계' FROM buyTbl GROUP BY prodName with ROLLUP;</a:t>
            </a:r>
          </a:p>
          <a:p>
            <a:pPr>
              <a:defRPr/>
            </a:pPr>
            <a:r>
              <a:rPr lang="en-US" altLang="en-US" sz="1400">
                <a:solidFill>
                  <a:srgbClr val="F2F2F2"/>
                </a:solidFill>
                <a:latin typeface="안상수2006가는"/>
                <a:ea typeface="안상수2006가는"/>
              </a:rPr>
              <a:t>ame)</a:t>
            </a:r>
          </a:p>
          <a:p>
            <a:pPr>
              <a:defRPr/>
            </a:pPr>
            <a:endParaRPr lang="en-US" altLang="en-US" sz="1400">
              <a:solidFill>
                <a:srgbClr val="F2F2F2"/>
              </a:solidFill>
              <a:latin typeface="나눔고딕"/>
              <a:ea typeface="나눔고딕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411760" y="2314372"/>
          <a:ext cx="3545611" cy="4724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545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>
                          <a:latin typeface="나눔고딕"/>
                          <a:ea typeface="나눔고딕"/>
                        </a:rPr>
                        <a:t>buyTbl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1305" y="2779194"/>
            <a:ext cx="3524562" cy="3042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3"/>
            <a:chOff x="527768" y="1560897"/>
            <a:chExt cx="5187232" cy="2184590"/>
          </a:xfrm>
        </p:grpSpPr>
        <p:sp>
          <p:nvSpPr>
            <p:cNvPr id="18" name="TextBox 17"/>
            <p:cNvSpPr txBox="1"/>
            <p:nvPr/>
          </p:nvSpPr>
          <p:spPr>
            <a:xfrm>
              <a:off x="558045" y="3058913"/>
              <a:ext cx="5035889" cy="686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고생하셨습니다</a:t>
              </a: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E N D.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741</Words>
  <Application>Microsoft Office PowerPoint</Application>
  <PresentationFormat>와이드스크린</PresentationFormat>
  <Paragraphs>121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나눔고딕</vt:lpstr>
      <vt:lpstr>나눔스퀘어라운드 Regular</vt:lpstr>
      <vt:lpstr>안상수2006가는</vt:lpstr>
      <vt:lpstr>함초롬돋움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522</cp:revision>
  <dcterms:created xsi:type="dcterms:W3CDTF">2015-07-07T04:48:58Z</dcterms:created>
  <dcterms:modified xsi:type="dcterms:W3CDTF">2022-04-27T11:15:01Z</dcterms:modified>
  <cp:version>1000.0000.01</cp:version>
</cp:coreProperties>
</file>