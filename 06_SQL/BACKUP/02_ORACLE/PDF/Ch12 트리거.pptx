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256" r:id="rId2"/>
    <p:sldId id="257" r:id="rId3"/>
    <p:sldId id="286" r:id="rId4"/>
    <p:sldId id="287" r:id="rId5"/>
    <p:sldId id="285" r:id="rId6"/>
    <p:sldId id="264" r:id="rId7"/>
    <p:sldId id="288" r:id="rId8"/>
    <p:sldId id="289" r:id="rId9"/>
    <p:sldId id="290" r:id="rId10"/>
    <p:sldId id="291" r:id="rId11"/>
    <p:sldId id="292" r:id="rId12"/>
    <p:sldId id="258" r:id="rId13"/>
    <p:sldId id="259" r:id="rId14"/>
    <p:sldId id="261" r:id="rId15"/>
    <p:sldId id="262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0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7" autoAdjust="0"/>
    <p:restoredTop sz="84425"/>
  </p:normalViewPr>
  <p:slideViewPr>
    <p:cSldViewPr snapToGrid="0" showGuides="1">
      <p:cViewPr varScale="1">
        <p:scale>
          <a:sx n="54" d="100"/>
          <a:sy n="54" d="100"/>
        </p:scale>
        <p:origin x="96" y="274"/>
      </p:cViewPr>
      <p:guideLst>
        <p:guide orient="horz" pos="4109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629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76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471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66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610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170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71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499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6742477" cy="115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7000" b="1" spc="-150">
                <a:solidFill>
                  <a:srgbClr val="595959"/>
                </a:solidFill>
                <a:latin typeface="+mj-lt"/>
                <a:ea typeface="THE명품고딕L"/>
              </a:rPr>
              <a:t>16</a:t>
            </a:r>
            <a:r>
              <a:rPr lang="ko-KR" altLang="en-US" sz="7000" b="1" spc="-150">
                <a:solidFill>
                  <a:srgbClr val="595959"/>
                </a:solidFill>
                <a:latin typeface="+mj-lt"/>
                <a:ea typeface="THE명품고딕L"/>
              </a:rPr>
              <a:t> 트리거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92CDA3E-14DE-42B6-A722-8130AE0FF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406967"/>
            <a:ext cx="9386888" cy="5361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362C74C9-83F5-417E-A272-817961822C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2"/>
          <a:stretch/>
        </p:blipFill>
        <p:spPr>
          <a:xfrm>
            <a:off x="30790" y="661919"/>
            <a:ext cx="12111372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9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546194-C70D-488C-838B-436B7A8513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08"/>
          <a:stretch/>
        </p:blipFill>
        <p:spPr>
          <a:xfrm>
            <a:off x="194311" y="1852841"/>
            <a:ext cx="11033242" cy="233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7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16457"/>
              </p:ext>
            </p:extLst>
          </p:nvPr>
        </p:nvGraphicFramePr>
        <p:xfrm>
          <a:off x="514876" y="2019300"/>
          <a:ext cx="9881579" cy="15595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545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5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BEFORE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트리거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이벤트 발생 이전에 작동되는 트리거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INSERT, UPDATE, DELETE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세가지 이벤트로 작동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latin typeface="나눔고딕"/>
                          <a:ea typeface="나눔고딕"/>
                        </a:rPr>
                        <a:t>AFTER </a:t>
                      </a:r>
                      <a:r>
                        <a:rPr lang="ko-KR" altLang="en-US" dirty="0">
                          <a:latin typeface="나눔고딕"/>
                          <a:ea typeface="나눔고딕"/>
                        </a:rPr>
                        <a:t>트리거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latin typeface="나눔고딕"/>
                          <a:ea typeface="나눔고딕"/>
                        </a:rPr>
                        <a:t>INSERT,UPDATE,DELETE </a:t>
                      </a:r>
                      <a:r>
                        <a:rPr lang="ko-KR" altLang="en-US" dirty="0">
                          <a:latin typeface="나눔고딕"/>
                          <a:ea typeface="나눔고딕"/>
                        </a:rPr>
                        <a:t>등의 작업이 일어났을 때 작동하는 트리거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00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AFTER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637834" y="3085180"/>
          <a:ext cx="1499446" cy="93751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49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02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75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새값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화살표: 오른쪽 65"/>
          <p:cNvSpPr/>
          <p:nvPr/>
        </p:nvSpPr>
        <p:spPr>
          <a:xfrm>
            <a:off x="2973916" y="3158067"/>
            <a:ext cx="1492250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5204209" y="3099997"/>
          <a:ext cx="1836559" cy="10115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36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새값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임시저장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9639260" y="3077773"/>
          <a:ext cx="1775001" cy="79771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75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기존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새값 삽입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화살표: 오른쪽 68"/>
          <p:cNvSpPr/>
          <p:nvPr/>
        </p:nvSpPr>
        <p:spPr>
          <a:xfrm>
            <a:off x="7624233" y="3161242"/>
            <a:ext cx="1492250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637834" y="4285331"/>
          <a:ext cx="1499446" cy="93751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49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02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75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예전 값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화살표: 오른쪽 70"/>
          <p:cNvSpPr/>
          <p:nvPr/>
        </p:nvSpPr>
        <p:spPr>
          <a:xfrm>
            <a:off x="2973916" y="4358217"/>
            <a:ext cx="1492250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2" name="표 71"/>
          <p:cNvGraphicFramePr>
            <a:graphicFrameLocks noGrp="1"/>
          </p:cNvGraphicFramePr>
          <p:nvPr/>
        </p:nvGraphicFramePr>
        <p:xfrm>
          <a:off x="5204209" y="4300148"/>
          <a:ext cx="1827529" cy="79771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27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기존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예전값 삭제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9639260" y="4277923"/>
          <a:ext cx="1772496" cy="10115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7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예전값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임시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화살표: 오른쪽 73"/>
          <p:cNvSpPr/>
          <p:nvPr/>
        </p:nvSpPr>
        <p:spPr>
          <a:xfrm>
            <a:off x="7624233" y="4361393"/>
            <a:ext cx="1492250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5" name="표 74"/>
          <p:cNvGraphicFramePr>
            <a:graphicFrameLocks noGrp="1"/>
          </p:cNvGraphicFramePr>
          <p:nvPr/>
        </p:nvGraphicFramePr>
        <p:xfrm>
          <a:off x="637834" y="5523581"/>
          <a:ext cx="1163955" cy="100774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6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75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새값</a:t>
                      </a:r>
                    </a:p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예전값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화살표: 오른쪽 75"/>
          <p:cNvSpPr/>
          <p:nvPr/>
        </p:nvSpPr>
        <p:spPr>
          <a:xfrm>
            <a:off x="2211916" y="5511800"/>
            <a:ext cx="687917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3309793" y="5517232"/>
          <a:ext cx="1351279" cy="79771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351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새값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임시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9649843" y="5526756"/>
          <a:ext cx="1775001" cy="79771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75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예전 값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6096807" y="5521463"/>
          <a:ext cx="1354455" cy="100774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기존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예전값 삭제</a:t>
                      </a:r>
                    </a:p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새값 삽입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화살표: 오른쪽 80"/>
          <p:cNvSpPr/>
          <p:nvPr/>
        </p:nvSpPr>
        <p:spPr>
          <a:xfrm>
            <a:off x="5031316" y="5526617"/>
            <a:ext cx="687917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82" name="화살표: 오른쪽 81"/>
          <p:cNvSpPr/>
          <p:nvPr/>
        </p:nvSpPr>
        <p:spPr>
          <a:xfrm>
            <a:off x="7924798" y="5520268"/>
            <a:ext cx="687917" cy="359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83" name="순서도: 처리 82"/>
          <p:cNvSpPr/>
          <p:nvPr/>
        </p:nvSpPr>
        <p:spPr>
          <a:xfrm>
            <a:off x="222249" y="2783416"/>
            <a:ext cx="11726334" cy="3873499"/>
          </a:xfrm>
          <a:prstGeom prst="flowChartProcess">
            <a:avLst/>
          </a:prstGeom>
          <a:noFill/>
          <a:ln w="254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84" name="TextBox 5"/>
          <p:cNvSpPr txBox="1"/>
          <p:nvPr/>
        </p:nvSpPr>
        <p:spPr>
          <a:xfrm>
            <a:off x="196911" y="1798654"/>
            <a:ext cx="11758307" cy="942641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임시테이블 </a:t>
            </a:r>
          </a:p>
          <a:p>
            <a:pPr lvl="0">
              <a:defRPr/>
            </a:pPr>
            <a:endParaRPr lang="ko-KR" altLang="en-US" sz="800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1600" spc="-150">
                <a:solidFill>
                  <a:schemeClr val="accent4"/>
                </a:solidFill>
                <a:latin typeface="+mj-ea"/>
                <a:ea typeface="+mj-ea"/>
              </a:rPr>
              <a:t>new : </a:t>
            </a: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트리거 대상테이블에 값 삽입</a:t>
            </a:r>
            <a:r>
              <a:rPr lang="en-US" altLang="ko-KR" sz="1600" spc="-150">
                <a:solidFill>
                  <a:schemeClr val="accent4"/>
                </a:solidFill>
                <a:latin typeface="+mj-ea"/>
                <a:ea typeface="+mj-ea"/>
              </a:rPr>
              <a:t>(INSERT)</a:t>
            </a: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전 내용저장</a:t>
            </a:r>
          </a:p>
          <a:p>
            <a:pPr lvl="0">
              <a:defRPr/>
            </a:pPr>
            <a:r>
              <a:rPr lang="en-US" altLang="ko-KR" sz="1600" spc="-150">
                <a:solidFill>
                  <a:schemeClr val="accent4"/>
                </a:solidFill>
                <a:latin typeface="+mj-ea"/>
                <a:ea typeface="+mj-ea"/>
              </a:rPr>
              <a:t>old : </a:t>
            </a: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 트리거 대상 테이블에 값 수정</a:t>
            </a:r>
            <a:r>
              <a:rPr lang="en-US" altLang="ko-KR" sz="1600" spc="-150">
                <a:solidFill>
                  <a:schemeClr val="accent4"/>
                </a:solidFill>
                <a:latin typeface="+mj-ea"/>
                <a:ea typeface="+mj-ea"/>
              </a:rPr>
              <a:t>(UPDATE)/</a:t>
            </a: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삭제</a:t>
            </a:r>
            <a:r>
              <a:rPr lang="en-US" altLang="ko-KR" sz="1600" spc="-150">
                <a:solidFill>
                  <a:schemeClr val="accent4"/>
                </a:solidFill>
                <a:latin typeface="+mj-ea"/>
                <a:ea typeface="+mj-ea"/>
              </a:rPr>
              <a:t>(DELETE)</a:t>
            </a: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 후</a:t>
            </a:r>
            <a:r>
              <a:rPr lang="en-US" altLang="ko-KR" sz="16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ko-KR" altLang="en-US" sz="1600" spc="-150">
                <a:solidFill>
                  <a:schemeClr val="accent4"/>
                </a:solidFill>
                <a:latin typeface="+mj-ea"/>
                <a:ea typeface="+mj-ea"/>
              </a:rPr>
              <a:t>내용 저장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5B7009-4DA8-4434-951D-EEBDB22BF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96"/>
          <a:stretch/>
        </p:blipFill>
        <p:spPr>
          <a:xfrm>
            <a:off x="279905" y="1796419"/>
            <a:ext cx="5249358" cy="502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6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4577F971-B64C-48CB-B6B8-AD2B91500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" y="1968126"/>
            <a:ext cx="11734112" cy="451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5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580FD25-D004-4777-9996-4D1720357F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13"/>
          <a:stretch/>
        </p:blipFill>
        <p:spPr>
          <a:xfrm>
            <a:off x="194310" y="1960051"/>
            <a:ext cx="11523500" cy="212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5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D8F7261-49B6-4EA7-B6C5-CDEF133E4E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34"/>
          <a:stretch/>
        </p:blipFill>
        <p:spPr>
          <a:xfrm>
            <a:off x="296862" y="1707489"/>
            <a:ext cx="5103813" cy="502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8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5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73058"/>
            <a:chOff x="527769" y="1728426"/>
            <a:chExt cx="5187231" cy="1873058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2505180" cy="542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AFTER </a:t>
              </a:r>
              <a:r>
                <a:rPr lang="ko-KR" altLang="en-US" sz="3000" b="1" spc="-15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트리거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AFTER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171784"/>
              </p:ext>
            </p:extLst>
          </p:nvPr>
        </p:nvGraphicFramePr>
        <p:xfrm>
          <a:off x="637836" y="1872968"/>
          <a:ext cx="9888855" cy="1005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88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106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AFTER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 트리거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회원 테이블에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update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나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delete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를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시도하면 수정 또는 삭제된 데이터를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별도의 테이블에 보관하고 변경된 일자와 변경한 사람을 기록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56196"/>
              </p:ext>
            </p:extLst>
          </p:nvPr>
        </p:nvGraphicFramePr>
        <p:xfrm>
          <a:off x="637836" y="3050081"/>
          <a:ext cx="9888855" cy="34747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88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106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dirty="0">
                          <a:latin typeface="나눔고딕"/>
                          <a:ea typeface="나눔고딕"/>
                        </a:rPr>
                        <a:t>트리거 대상 테이블</a:t>
                      </a:r>
                      <a:r>
                        <a:rPr lang="en-US" altLang="ko-KR" dirty="0">
                          <a:latin typeface="나눔고딕"/>
                          <a:ea typeface="나눔고딕"/>
                        </a:rPr>
                        <a:t>(usertbl2)</a:t>
                      </a:r>
                      <a:r>
                        <a:rPr lang="ko-KR" altLang="en-US" dirty="0">
                          <a:latin typeface="나눔고딕"/>
                          <a:ea typeface="나눔고딕"/>
                        </a:rPr>
                        <a:t> 복사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 구조복사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AS SELECT *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1=2;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열추가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add type varchar(20) not null;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add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Moddate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varchar(20) not null;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AFTER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248625"/>
              </p:ext>
            </p:extLst>
          </p:nvPr>
        </p:nvGraphicFramePr>
        <p:xfrm>
          <a:off x="637835" y="2202531"/>
          <a:ext cx="10622747" cy="37547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수정 트리거 지정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7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trigger trg_01;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OR REPLACE TRIGGER trg_01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AFTER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UPDATE 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 EACH ROW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BEGIN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   insert into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values(:old.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,:old.name,: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old.birthyear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    :old.addr,:old.mobile1,:old.mobile2, :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old.height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: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old.mdate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수정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 SYSDATE );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END;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AFTER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345879"/>
              </p:ext>
            </p:extLst>
          </p:nvPr>
        </p:nvGraphicFramePr>
        <p:xfrm>
          <a:off x="637835" y="1934299"/>
          <a:ext cx="10622280" cy="45739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삭제 트리거 지정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7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After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트리거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삭제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trigger trg_02;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OR REPLACE TRIGGER trg_02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AFTER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DELETE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 EACH ROW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BEGIN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   insert into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values(:old.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,:old.name,: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old.birthyear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    :old.addr,:old.mobile1,:old.mobile2, :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old.height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: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old.mdate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삭제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 SYSDATE );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END;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delete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='LSG';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backup_user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603250" y="2518833"/>
          <a:ext cx="4456430" cy="147185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484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57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prodName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5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/>
                        <a:t>세탁기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5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/>
                        <a:t>냉장고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5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/>
                        <a:t>노트북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6096807" y="2480732"/>
          <a:ext cx="4711487" cy="147478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575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50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prodName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/>
                        <a:t>세탁기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/>
                        <a:t>냉장고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/>
                        <a:t>노트북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" name="TextBox 5"/>
          <p:cNvSpPr txBox="1"/>
          <p:nvPr/>
        </p:nvSpPr>
        <p:spPr>
          <a:xfrm>
            <a:off x="567327" y="2137320"/>
            <a:ext cx="4138306" cy="36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오늘 생산제품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(makeprodtbl)</a:t>
            </a:r>
          </a:p>
        </p:txBody>
      </p:sp>
      <p:sp>
        <p:nvSpPr>
          <p:cNvPr id="70" name="TextBox 5"/>
          <p:cNvSpPr txBox="1"/>
          <p:nvPr/>
        </p:nvSpPr>
        <p:spPr>
          <a:xfrm>
            <a:off x="6096807" y="2078053"/>
            <a:ext cx="4138306" cy="35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재고제품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(saveprodtbl)</a:t>
            </a:r>
          </a:p>
        </p:txBody>
      </p:sp>
      <p:sp>
        <p:nvSpPr>
          <p:cNvPr id="71" name="TextBox 5"/>
          <p:cNvSpPr txBox="1"/>
          <p:nvPr/>
        </p:nvSpPr>
        <p:spPr>
          <a:xfrm>
            <a:off x="582144" y="4660387"/>
            <a:ext cx="10075556" cy="1462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1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생산제품 테이블에 값 추가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(INSERT)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시 재고 제품에도 추가될수 있도록 트리거 설정하세요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2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생산제품 테이블에  기존 제품의 생산량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(amount)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가 수정될때 제고제품의 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amount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값에 더해질수 있도록 트리거 설정하세요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557012"/>
              </p:ext>
            </p:extLst>
          </p:nvPr>
        </p:nvGraphicFramePr>
        <p:xfrm>
          <a:off x="479085" y="2012031"/>
          <a:ext cx="10622280" cy="40233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환경설정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테이블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makeprodtbl</a:t>
                      </a: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code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prodname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char(10)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amount int 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saveprodtbl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saveprodtbl</a:t>
                      </a: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code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prodname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char(10)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amount int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32004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환경설정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테이블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makeprodtbl values(111,'세탁기',10);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makeprodtbl values(222,'냉장고',5);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makeprodtbl values(333,'노트북',10);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saveprodtbl values(111,'세탁기',50);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saveprodtbl values(222,'냉장고',10);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saveprodtbl values(333,'노트북',30);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makeprodtbl;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saveprodtbl;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193347"/>
              </p:ext>
            </p:extLst>
          </p:nvPr>
        </p:nvGraphicFramePr>
        <p:xfrm>
          <a:off x="498135" y="2043781"/>
          <a:ext cx="10622280" cy="207664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문제 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spc="-150" dirty="0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 생산제품 테이블에 값 추가</a:t>
                      </a:r>
                      <a:r>
                        <a:rPr lang="en-US" altLang="ko-KR" spc="-150" dirty="0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(INSERT)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 시 재고 제품에도 </a:t>
                      </a:r>
                      <a:r>
                        <a:rPr lang="ko-KR" altLang="en-US" spc="-150" dirty="0" err="1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추가될수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 있도록 트리거 설정하세요</a:t>
                      </a:r>
                    </a:p>
                    <a:p>
                      <a:pPr lvl="0">
                        <a:defRPr/>
                      </a:pP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+mj-ea"/>
                          <a:ea typeface="+mj-ea"/>
                        </a:rPr>
                        <a:t> 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93129"/>
              </p:ext>
            </p:extLst>
          </p:nvPr>
        </p:nvGraphicFramePr>
        <p:xfrm>
          <a:off x="498135" y="2043781"/>
          <a:ext cx="10622280" cy="207664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문제  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2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 생산제품 테이블에  기존 제품의 생산량</a:t>
                      </a:r>
                      <a:r>
                        <a:rPr lang="en-US" altLang="ko-KR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(amount) 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가 </a:t>
                      </a:r>
                      <a:r>
                        <a:rPr lang="ko-KR" altLang="en-US" spc="-150" dirty="0" err="1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수정될때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 제고제품의 </a:t>
                      </a:r>
                      <a:r>
                        <a:rPr lang="en-US" altLang="ko-KR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amount 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값에 </a:t>
                      </a:r>
                      <a:r>
                        <a:rPr lang="ko-KR" altLang="en-US" spc="-150" dirty="0" err="1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더해질수</a:t>
                      </a:r>
                      <a:r>
                        <a:rPr lang="ko-KR" altLang="en-US" spc="-150" dirty="0">
                          <a:solidFill>
                            <a:schemeClr val="accent4"/>
                          </a:solidFill>
                          <a:latin typeface="나눔고딕"/>
                          <a:ea typeface="나눔고딕"/>
                        </a:rPr>
                        <a:t> 있도록 트리거 설정하세요</a:t>
                      </a:r>
                    </a:p>
                    <a:p>
                      <a:pPr lvl="0">
                        <a:defRPr/>
                      </a:pPr>
                      <a:endParaRPr lang="ko-KR" altLang="en-US" spc="-150" dirty="0">
                        <a:solidFill>
                          <a:schemeClr val="accent4"/>
                        </a:solidFill>
                        <a:latin typeface="나눔고딕"/>
                        <a:ea typeface="나눔고딕"/>
                      </a:endParaRPr>
                    </a:p>
                    <a:p>
                      <a:pPr lvl="0">
                        <a:defRPr/>
                      </a:pPr>
                      <a:endParaRPr lang="ko-KR" altLang="en-US" sz="1400" spc="-150" dirty="0">
                        <a:solidFill>
                          <a:schemeClr val="accent4"/>
                        </a:solidFill>
                        <a:latin typeface="나눔고딕"/>
                        <a:ea typeface="나눔고딕"/>
                      </a:endParaRPr>
                    </a:p>
                    <a:p>
                      <a:pPr lvl="0">
                        <a:defRPr/>
                      </a:pPr>
                      <a:endParaRPr lang="ko-KR" altLang="en-US" sz="1400" spc="-150" dirty="0">
                        <a:solidFill>
                          <a:schemeClr val="accent4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73058"/>
            <a:chOff x="527769" y="1728426"/>
            <a:chExt cx="5187231" cy="1873058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2800455" cy="542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BEFORE </a:t>
              </a:r>
              <a:r>
                <a:rPr lang="ko-KR" altLang="en-US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트리거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3.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479228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BEFORE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328082" y="1962255"/>
          <a:ext cx="9984105" cy="4678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98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9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예제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57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 sqldb;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trigger if exists usertbl_beforeInsertTrg;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//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trigger usertbl_beforeInsertTrg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before insert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usertbl2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 each row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Begin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if new.birthYear &lt; 1900 then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	set new.birthYear = 0;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elseif new.birthYear &gt; year(curdate()) then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	set new.birthYear = year(curdate());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end if;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end  //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479228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BEFORE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트리거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349249" y="2046922"/>
          <a:ext cx="9984105" cy="19354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98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9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예제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98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확인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usertbl2 values('aaa','에이',1877,'서울','011','1112222',181,'2022-12-15');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usertbl2 values('bbb','비이',2977,'경기','011','1113333',171,'2019-03-25');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usertbl2;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5" y="654596"/>
            <a:ext cx="89464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설계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3" name="TextBox 18"/>
          <p:cNvSpPr txBox="1"/>
          <p:nvPr/>
        </p:nvSpPr>
        <p:spPr>
          <a:xfrm>
            <a:off x="497364" y="2072035"/>
            <a:ext cx="4622989" cy="393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회원테이블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(memberTBL) - </a:t>
            </a: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개체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Tbl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512052" y="2529345"/>
          <a:ext cx="8478211" cy="137873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9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6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8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열이름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영문이름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데이터 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NULL</a:t>
                      </a:r>
                      <a:r>
                        <a:rPr lang="ko-KR" altLang="en-US" sz="1400"/>
                        <a:t>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8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아이디</a:t>
                      </a:r>
                      <a:r>
                        <a:rPr lang="en-US" altLang="ko-KR" sz="1400"/>
                        <a:t>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memberID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8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영문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7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회원이름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memberName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한글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7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주소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memberAddress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한글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TextBox 18"/>
          <p:cNvSpPr txBox="1"/>
          <p:nvPr/>
        </p:nvSpPr>
        <p:spPr>
          <a:xfrm>
            <a:off x="518035" y="4085458"/>
            <a:ext cx="4622989" cy="393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제품 테이블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(productTBL) - </a:t>
            </a: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개체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Tbl</a:t>
            </a:r>
          </a:p>
        </p:txBody>
      </p:sp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532723" y="4552293"/>
          <a:ext cx="8478211" cy="180593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9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6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16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열이름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영문이름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데이터 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NULL</a:t>
                      </a:r>
                      <a:r>
                        <a:rPr lang="ko-KR" altLang="en-US" sz="1400"/>
                        <a:t>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6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제품이름</a:t>
                      </a:r>
                      <a:r>
                        <a:rPr lang="en-US" altLang="ko-KR" sz="1400"/>
                        <a:t>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한글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9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숫자</a:t>
                      </a:r>
                      <a:r>
                        <a:rPr lang="en-US" altLang="ko-KR" sz="1400"/>
                        <a:t>(INT)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정수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9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제조일자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makeDate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날짜</a:t>
                      </a:r>
                      <a:r>
                        <a:rPr lang="en-US" altLang="ko-KR" sz="1400"/>
                        <a:t>(DATE)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날짜형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9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제조회사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한글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9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남은수량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숫자</a:t>
                      </a:r>
                      <a:r>
                        <a:rPr lang="en-US" altLang="ko-KR" sz="1400"/>
                        <a:t>(INT)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정수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89463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설계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3" name="TextBox 18"/>
          <p:cNvSpPr txBox="1"/>
          <p:nvPr/>
        </p:nvSpPr>
        <p:spPr>
          <a:xfrm>
            <a:off x="525939" y="2091085"/>
            <a:ext cx="4622989" cy="393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2000">
              <a:solidFill>
                <a:schemeClr val="accent4"/>
              </a:solidFill>
              <a:latin typeface="나눔고딕"/>
              <a:ea typeface="나눔고딕"/>
            </a:endParaRP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512052" y="2529345"/>
          <a:ext cx="8128000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열이름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영문이름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데이터 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NULL</a:t>
                      </a:r>
                      <a:r>
                        <a:rPr lang="ko-KR" altLang="en-US" sz="1400"/>
                        <a:t>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주문번호</a:t>
                      </a:r>
                      <a:r>
                        <a:rPr lang="en-US" altLang="ko-KR" sz="1400"/>
                        <a:t>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buyID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숫자</a:t>
                      </a:r>
                      <a:r>
                        <a:rPr lang="en-US" altLang="ko-KR" sz="1400"/>
                        <a:t>(INT)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정수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아이디</a:t>
                      </a:r>
                      <a:r>
                        <a:rPr lang="en-US" altLang="ko-KR" sz="1400"/>
                        <a:t>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memberID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8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영문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제품이름</a:t>
                      </a:r>
                      <a:r>
                        <a:rPr lang="en-US" altLang="ko-KR" sz="1400"/>
                        <a:t>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문자</a:t>
                      </a:r>
                      <a:r>
                        <a:rPr lang="en-US" altLang="ko-KR" sz="1400"/>
                        <a:t>(CHAR)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글자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한글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구매수량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숫자</a:t>
                      </a:r>
                      <a:r>
                        <a:rPr lang="en-US" altLang="ko-KR" sz="1400"/>
                        <a:t>(INT)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400"/>
                        <a:t>정수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TextBox 18"/>
          <p:cNvSpPr txBox="1"/>
          <p:nvPr/>
        </p:nvSpPr>
        <p:spPr>
          <a:xfrm>
            <a:off x="497364" y="2072035"/>
            <a:ext cx="4622989" cy="393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구매테이블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(buyTBL) - </a:t>
            </a: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관계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Tbl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2" name="TextBox 5"/>
          <p:cNvSpPr txBox="1"/>
          <p:nvPr/>
        </p:nvSpPr>
        <p:spPr>
          <a:xfrm>
            <a:off x="773157" y="1800827"/>
            <a:ext cx="10075558" cy="255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[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제약조건 문제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]</a:t>
            </a:r>
          </a:p>
          <a:p>
            <a:pPr lvl="0">
              <a:defRPr/>
            </a:pPr>
            <a:endParaRPr lang="en-US" altLang="ko-KR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1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각 테이블들은 제약 조건 없이 만들어 주세요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2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회원테이블의 아이디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(PK)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와 구매 테이블의 아이디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(FK)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를 관계 설정하세요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3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 제품테이블의 제품이름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(PK)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와 구매테이블의 제품이름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(FK)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를 관계 설정하세요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4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 구매테이블의 주문번호에 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PK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설정하세요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34785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환경설정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테이블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+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제약조건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DB 생성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database tmpdb;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 tmpdb;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테이블 생성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memberTbl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memberID char(8)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memberName char(5)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memberaddress nchar(20) null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45739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환경설정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테이블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+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제약조건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productTbl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productName char(4)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cost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makedate date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company nchar(5)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amount int not null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buytbl 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buyID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memberID char(8)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productName char(4)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amount int not null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207854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환경설정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테이블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+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제약조건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구조 확인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membertbl;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productTbl;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buytbl;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40309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관계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설정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관계 설정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membertbl add primary key(memberID);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productTbl add primary key(productName);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buytbl add primary key (buyID);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buytbl add constraint FK_memTbl_buyTbl 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foreign key(memberID) references membertbl(memberID);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buytbl add constraint FK_prodTbl_buyTbl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foreign key(productName) references productTbl(productName);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membertbl;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producttbl;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buytbl;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1" name="TextBox 5"/>
          <p:cNvSpPr txBox="1"/>
          <p:nvPr/>
        </p:nvSpPr>
        <p:spPr>
          <a:xfrm>
            <a:off x="557258" y="2106364"/>
            <a:ext cx="10075558" cy="228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[BEFORE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트리거 문제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]</a:t>
            </a:r>
          </a:p>
          <a:p>
            <a:pPr lvl="0">
              <a:defRPr/>
            </a:pPr>
            <a:endParaRPr lang="en-US" altLang="ko-KR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1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주문 테이블에  제품주문시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(INSERT)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제품 테이블의 재고량이 주문수량보다 작으면 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INSERT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불가 설정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2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주문 테이블의 주문 수량 변경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(UPDATE)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시 제품 테이블에도 수량에 맞게 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amount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가 조절되도록 트리거 설정</a:t>
            </a:r>
          </a:p>
          <a:p>
            <a:pPr lvl="0">
              <a:defRPr/>
            </a:pPr>
            <a:endParaRPr lang="ko-KR" altLang="en-US" spc="-150">
              <a:solidFill>
                <a:schemeClr val="accent4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3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주문 테이블의 주문 취소시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(DELETE)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 제품 수량도 맞게 </a:t>
            </a:r>
            <a:r>
              <a:rPr lang="en-US" altLang="ko-KR" spc="-150">
                <a:solidFill>
                  <a:schemeClr val="accent4"/>
                </a:solidFill>
                <a:latin typeface="+mj-ea"/>
                <a:ea typeface="+mj-ea"/>
              </a:rPr>
              <a:t>amount </a:t>
            </a:r>
            <a:r>
              <a:rPr lang="ko-KR" altLang="en-US" spc="-150">
                <a:solidFill>
                  <a:schemeClr val="accent4"/>
                </a:solidFill>
                <a:latin typeface="+mj-ea"/>
                <a:ea typeface="+mj-ea"/>
              </a:rPr>
              <a:t>가 조절되도록 트리거 설정 </a:t>
            </a:r>
          </a:p>
          <a:p>
            <a:pPr lvl="0">
              <a:defRPr/>
            </a:pPr>
            <a:endParaRPr lang="en-US" altLang="ko-KR" spc="-150">
              <a:solidFill>
                <a:schemeClr val="accent4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45167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1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 답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-- 1 주문 테이블에  제품주문시(INSERT) 제품 테이블의 재고량이 주문수량보다 작으면 INSERT 불가 설정</a:t>
                      </a:r>
                    </a:p>
                    <a:p>
                      <a:pPr>
                        <a:defRPr/>
                      </a:pPr>
                      <a:endParaRPr lang="ko-KR" altLang="ko-KR" sz="14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trigger if exists InsertbuytblTrg;</a:t>
                      </a:r>
                    </a:p>
                    <a:p>
                      <a:pPr>
                        <a:defRPr/>
                      </a:pPr>
                      <a:endParaRPr lang="en-US" altLang="ko-KR" sz="14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//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trigger InsertbuytblTrg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before insert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buytbl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 each row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begin</a:t>
                      </a:r>
                    </a:p>
                    <a:p>
                      <a:pPr>
                        <a:defRPr/>
                      </a:pPr>
                      <a:r>
                        <a:rPr lang="ko-KR" altLang="en-US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</a:t>
                      </a: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declare pamount int;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set pamount = (select amount from producttbl where productname=new.productname);</a:t>
                      </a:r>
                    </a:p>
                    <a:p>
                      <a:pPr>
                        <a:defRPr/>
                      </a:pPr>
                      <a:r>
                        <a:rPr lang="ko-KR" altLang="en-US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</a:t>
                      </a: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if (new.amount -pamount &lt;= 0) then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update producttbl set amount = amount-new.amount where productname=new.productname;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else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delete from new;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end if;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end //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47263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2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 답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-- 2 주문 테이블의 주문 수량 변경(UPDATE) 시 제품 테이블에도 수량에 맞게 amount 가 조절되도록 트리거 설정</a:t>
                      </a:r>
                    </a:p>
                    <a:p>
                      <a:pPr>
                        <a:defRPr/>
                      </a:pPr>
                      <a:endParaRPr lang="en-US" altLang="ko-KR" sz="14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trigger if exists UpdatebuytblTrg;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//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trigger UpdatebuytblTrg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before update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buytbl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 each row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begin</a:t>
                      </a:r>
                    </a:p>
                    <a:p>
                      <a:pPr>
                        <a:defRPr/>
                      </a:pPr>
                      <a:r>
                        <a:rPr lang="ko-KR" altLang="en-US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</a:t>
                      </a: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declare sub int;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set sub = (select amount from buytbl where productName=new.productName) - new.amount 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 if sub &gt;= 0 then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	update producttbl set amount=amount+sub where productname = new.productname;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else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	delete from new;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 end if;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-- sql 코드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end //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;</a:t>
                      </a:r>
                    </a:p>
                    <a:p>
                      <a:pPr>
                        <a:defRPr/>
                      </a:pPr>
                      <a:endParaRPr lang="en-US" altLang="ko-KR" sz="14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4138306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526710" y="2091406"/>
          <a:ext cx="10622280" cy="34499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2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7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2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 답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8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-- 3 주문 테이블의 주문 취소시(DELETE) 제품 수량도 맞게 amount 가 조절되도록 트리거 설정 </a:t>
                      </a:r>
                    </a:p>
                    <a:p>
                      <a:pPr>
                        <a:defRPr/>
                      </a:pPr>
                      <a:endParaRPr lang="en-US" altLang="ko-KR" sz="14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drop trigger if exists deletebuytblTrg;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//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trigger deletebuytblTrg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before delete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buytbl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 each row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begin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update producttbl set amount=amount+old.amount where productname=old.productname;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end //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delimiter 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1684</Words>
  <Application>Microsoft Office PowerPoint</Application>
  <PresentationFormat>와이드스크린</PresentationFormat>
  <Paragraphs>484</Paragraphs>
  <Slides>35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나눔고딕</vt:lpstr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721</cp:revision>
  <dcterms:created xsi:type="dcterms:W3CDTF">2015-07-07T04:48:58Z</dcterms:created>
  <dcterms:modified xsi:type="dcterms:W3CDTF">2022-04-30T11:39:09Z</dcterms:modified>
  <cp:version>1000.0000.01</cp:version>
</cp:coreProperties>
</file>