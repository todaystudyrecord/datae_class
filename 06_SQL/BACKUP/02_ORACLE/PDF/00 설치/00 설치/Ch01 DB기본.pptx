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71" r:id="rId11"/>
    <p:sldId id="269" r:id="rId12"/>
    <p:sldId id="272" r:id="rId13"/>
    <p:sldId id="273" r:id="rId14"/>
    <p:sldId id="274" r:id="rId15"/>
    <p:sldId id="275" r:id="rId16"/>
    <p:sldId id="276" r:id="rId17"/>
    <p:sldId id="277" r:id="rId18"/>
    <p:sldId id="26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9C8E2-2010-4FF3-BF02-BA6DFA93C045}" v="3" dt="2021-08-10T15:33:41.0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290"/>
  </p:normalViewPr>
  <p:slideViewPr>
    <p:cSldViewPr snapToGrid="0" showGuides="1">
      <p:cViewPr varScale="1">
        <p:scale>
          <a:sx n="73" d="100"/>
          <a:sy n="73" d="100"/>
        </p:scale>
        <p:origin x="1070" y="53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균 정" userId="cc5e98843caf5a80" providerId="LiveId" clId="{2879C8E2-2010-4FF3-BF02-BA6DFA93C045}"/>
    <pc:docChg chg="undo custSel modSld">
      <pc:chgData name="우균 정" userId="cc5e98843caf5a80" providerId="LiveId" clId="{2879C8E2-2010-4FF3-BF02-BA6DFA93C045}" dt="2021-08-10T15:35:07.439" v="199" actId="14100"/>
      <pc:docMkLst>
        <pc:docMk/>
      </pc:docMkLst>
      <pc:sldChg chg="delSp modSp mod">
        <pc:chgData name="우균 정" userId="cc5e98843caf5a80" providerId="LiveId" clId="{2879C8E2-2010-4FF3-BF02-BA6DFA93C045}" dt="2021-08-10T15:34:06.346" v="197" actId="14100"/>
        <pc:sldMkLst>
          <pc:docMk/>
          <pc:sldMk cId="0" sldId="258"/>
        </pc:sldMkLst>
        <pc:graphicFrameChg chg="modGraphic">
          <ac:chgData name="우균 정" userId="cc5e98843caf5a80" providerId="LiveId" clId="{2879C8E2-2010-4FF3-BF02-BA6DFA93C045}" dt="2021-08-10T15:34:06.346" v="197" actId="14100"/>
          <ac:graphicFrameMkLst>
            <pc:docMk/>
            <pc:sldMk cId="0" sldId="258"/>
            <ac:graphicFrameMk id="52" creationId="{00000000-0000-0000-0000-000000000000}"/>
          </ac:graphicFrameMkLst>
        </pc:graphicFrameChg>
        <pc:graphicFrameChg chg="mod modGraphic">
          <ac:chgData name="우균 정" userId="cc5e98843caf5a80" providerId="LiveId" clId="{2879C8E2-2010-4FF3-BF02-BA6DFA93C045}" dt="2021-08-10T15:33:07.275" v="152" actId="20577"/>
          <ac:graphicFrameMkLst>
            <pc:docMk/>
            <pc:sldMk cId="0" sldId="258"/>
            <ac:graphicFrameMk id="55" creationId="{00000000-0000-0000-0000-000000000000}"/>
          </ac:graphicFrameMkLst>
        </pc:graphicFrameChg>
        <pc:graphicFrameChg chg="del mod modGraphic">
          <ac:chgData name="우균 정" userId="cc5e98843caf5a80" providerId="LiveId" clId="{2879C8E2-2010-4FF3-BF02-BA6DFA93C045}" dt="2021-08-10T15:33:46.353" v="173" actId="478"/>
          <ac:graphicFrameMkLst>
            <pc:docMk/>
            <pc:sldMk cId="0" sldId="258"/>
            <ac:graphicFrameMk id="60" creationId="{00000000-0000-0000-0000-000000000000}"/>
          </ac:graphicFrameMkLst>
        </pc:graphicFrameChg>
      </pc:sldChg>
      <pc:sldChg chg="modSp mod">
        <pc:chgData name="우균 정" userId="cc5e98843caf5a80" providerId="LiveId" clId="{2879C8E2-2010-4FF3-BF02-BA6DFA93C045}" dt="2021-08-10T15:35:07.439" v="199" actId="14100"/>
        <pc:sldMkLst>
          <pc:docMk/>
          <pc:sldMk cId="0" sldId="264"/>
        </pc:sldMkLst>
        <pc:spChg chg="mod">
          <ac:chgData name="우균 정" userId="cc5e98843caf5a80" providerId="LiveId" clId="{2879C8E2-2010-4FF3-BF02-BA6DFA93C045}" dt="2021-08-10T15:35:05.508" v="198" actId="14100"/>
          <ac:spMkLst>
            <pc:docMk/>
            <pc:sldMk cId="0" sldId="264"/>
            <ac:spMk id="47" creationId="{00000000-0000-0000-0000-000000000000}"/>
          </ac:spMkLst>
        </pc:spChg>
        <pc:graphicFrameChg chg="modGraphic">
          <ac:chgData name="우균 정" userId="cc5e98843caf5a80" providerId="LiveId" clId="{2879C8E2-2010-4FF3-BF02-BA6DFA93C045}" dt="2021-08-10T15:35:07.439" v="199" actId="14100"/>
          <ac:graphicFrameMkLst>
            <pc:docMk/>
            <pc:sldMk cId="0" sldId="264"/>
            <ac:graphicFrameMk id="9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407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13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091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589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9396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656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6006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708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231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299661"/>
            <a:ext cx="674247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7000" b="1" spc="-150" dirty="0">
                <a:solidFill>
                  <a:srgbClr val="595959"/>
                </a:solidFill>
                <a:latin typeface="+mj-lt"/>
                <a:ea typeface="THE명품고딕L"/>
              </a:rPr>
              <a:t>01</a:t>
            </a:r>
            <a:r>
              <a:rPr lang="ko-KR" altLang="en-US" sz="7000" b="1" spc="-150" dirty="0">
                <a:solidFill>
                  <a:srgbClr val="595959"/>
                </a:solidFill>
                <a:latin typeface="+mj-lt"/>
                <a:ea typeface="THE명품고딕L"/>
              </a:rPr>
              <a:t> </a:t>
            </a:r>
            <a:r>
              <a:rPr lang="en-US" altLang="ko-KR" sz="6800" b="1" spc="-150" dirty="0">
                <a:solidFill>
                  <a:srgbClr val="595959"/>
                </a:solidFill>
                <a:latin typeface="+mj-lt"/>
                <a:ea typeface="THE명품고딕L"/>
              </a:rPr>
              <a:t>Database</a:t>
            </a:r>
            <a:r>
              <a:rPr lang="ko-KR" altLang="en-US" sz="6800" b="1" spc="-150" dirty="0">
                <a:solidFill>
                  <a:srgbClr val="595959"/>
                </a:solidFill>
                <a:latin typeface="+mj-lt"/>
                <a:ea typeface="THE명품고딕L"/>
              </a:rPr>
              <a:t>기본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8"/>
            <a:ext cx="4129080" cy="1738952"/>
            <a:chOff x="527768" y="1560899"/>
            <a:chExt cx="5187231" cy="2184589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21"/>
              <a:ext cx="3332256" cy="686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Database </a:t>
              </a: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기본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9"/>
              <a:ext cx="4338897" cy="1646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211383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Database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3970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1500">
              <a:latin typeface="나눔고딕"/>
              <a:ea typeface="나눔고딕"/>
            </a:endParaRPr>
          </a:p>
        </p:txBody>
      </p:sp>
      <p:sp>
        <p:nvSpPr>
          <p:cNvPr id="35" name="TextBox 67"/>
          <p:cNvSpPr txBox="1"/>
          <p:nvPr/>
        </p:nvSpPr>
        <p:spPr>
          <a:xfrm>
            <a:off x="1216102" y="5343525"/>
            <a:ext cx="304088" cy="5451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 sz="1500">
              <a:solidFill>
                <a:schemeClr val="accent4"/>
              </a:solidFill>
              <a:latin typeface="나눔고딕"/>
              <a:ea typeface="나눔고딕"/>
            </a:endParaRPr>
          </a:p>
        </p:txBody>
      </p:sp>
      <p:sp>
        <p:nvSpPr>
          <p:cNvPr id="36" name="TextBox 18"/>
          <p:cNvSpPr txBox="1"/>
          <p:nvPr/>
        </p:nvSpPr>
        <p:spPr>
          <a:xfrm>
            <a:off x="2556934" y="2943950"/>
            <a:ext cx="4275314" cy="54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 자료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, 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단순한 수치</a:t>
            </a:r>
          </a:p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 객체의 속성을 말함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(ex.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나이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키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몸무게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..)</a:t>
            </a:r>
          </a:p>
        </p:txBody>
      </p:sp>
      <p:sp>
        <p:nvSpPr>
          <p:cNvPr id="44" name="타원 61"/>
          <p:cNvSpPr/>
          <p:nvPr/>
        </p:nvSpPr>
        <p:spPr>
          <a:xfrm>
            <a:off x="945730" y="2552639"/>
            <a:ext cx="1225117" cy="1203879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500">
              <a:latin typeface="나눔고딕"/>
              <a:ea typeface="나눔고딕"/>
            </a:endParaRPr>
          </a:p>
        </p:txBody>
      </p:sp>
      <p:sp>
        <p:nvSpPr>
          <p:cNvPr id="47" name="TextBox 67"/>
          <p:cNvSpPr txBox="1"/>
          <p:nvPr/>
        </p:nvSpPr>
        <p:spPr>
          <a:xfrm>
            <a:off x="1251025" y="2940639"/>
            <a:ext cx="593015" cy="315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Data</a:t>
            </a:r>
          </a:p>
        </p:txBody>
      </p:sp>
      <p:sp>
        <p:nvSpPr>
          <p:cNvPr id="48" name="타원 61"/>
          <p:cNvSpPr/>
          <p:nvPr/>
        </p:nvSpPr>
        <p:spPr>
          <a:xfrm>
            <a:off x="6363969" y="2600265"/>
            <a:ext cx="1251575" cy="1203879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500">
              <a:latin typeface="나눔고딕"/>
              <a:ea typeface="나눔고딕"/>
            </a:endParaRPr>
          </a:p>
        </p:txBody>
      </p:sp>
      <p:sp>
        <p:nvSpPr>
          <p:cNvPr id="49" name="TextBox 67"/>
          <p:cNvSpPr txBox="1"/>
          <p:nvPr/>
        </p:nvSpPr>
        <p:spPr>
          <a:xfrm>
            <a:off x="6528151" y="3014017"/>
            <a:ext cx="1010351" cy="31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Database</a:t>
            </a:r>
          </a:p>
        </p:txBody>
      </p:sp>
      <p:sp>
        <p:nvSpPr>
          <p:cNvPr id="50" name="TextBox 18"/>
          <p:cNvSpPr txBox="1"/>
          <p:nvPr/>
        </p:nvSpPr>
        <p:spPr>
          <a:xfrm>
            <a:off x="7916682" y="2725086"/>
            <a:ext cx="4275318" cy="768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 통합하여 관리되는 데이터의 집합체</a:t>
            </a:r>
          </a:p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 데이터를 구조화 하여 효율적으로 데이터의 </a:t>
            </a:r>
          </a:p>
          <a:p>
            <a:pPr lvl="0">
              <a:defRPr/>
            </a:pP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  삽입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조회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삭제가 가능</a:t>
            </a:r>
          </a:p>
        </p:txBody>
      </p:sp>
      <p:sp>
        <p:nvSpPr>
          <p:cNvPr id="54" name="사각형: 둥근 모서리 53"/>
          <p:cNvSpPr/>
          <p:nvPr/>
        </p:nvSpPr>
        <p:spPr>
          <a:xfrm>
            <a:off x="2344905" y="5019592"/>
            <a:ext cx="841708" cy="414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 dirty="0">
                <a:latin typeface="나눔고딕"/>
                <a:ea typeface="나눔고딕"/>
              </a:rPr>
              <a:t>홍길동</a:t>
            </a:r>
          </a:p>
        </p:txBody>
      </p:sp>
      <p:cxnSp>
        <p:nvCxnSpPr>
          <p:cNvPr id="55" name="직선 연결선 54"/>
          <p:cNvCxnSpPr/>
          <p:nvPr/>
        </p:nvCxnSpPr>
        <p:spPr>
          <a:xfrm rot="5400000" flipH="1" flipV="1">
            <a:off x="2958269" y="4826594"/>
            <a:ext cx="249251" cy="222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rot="16200000" flipH="1">
            <a:off x="2984974" y="5414116"/>
            <a:ext cx="222547" cy="213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 rot="10800000">
            <a:off x="2125944" y="4893357"/>
            <a:ext cx="213643" cy="1691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 rot="10800000" flipV="1">
            <a:off x="2072533" y="5418567"/>
            <a:ext cx="284859" cy="240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18"/>
          <p:cNvSpPr txBox="1"/>
          <p:nvPr/>
        </p:nvSpPr>
        <p:spPr>
          <a:xfrm>
            <a:off x="3163329" y="4492519"/>
            <a:ext cx="14089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 dirty="0">
                <a:solidFill>
                  <a:schemeClr val="accent4"/>
                </a:solidFill>
                <a:latin typeface="나눔고딕"/>
                <a:ea typeface="나눔고딕"/>
              </a:rPr>
              <a:t>나이 </a:t>
            </a:r>
            <a:r>
              <a:rPr lang="en-US" altLang="ko-KR" sz="1500" dirty="0">
                <a:solidFill>
                  <a:schemeClr val="accent4"/>
                </a:solidFill>
                <a:latin typeface="나눔고딕"/>
                <a:ea typeface="나눔고딕"/>
              </a:rPr>
              <a:t>:20</a:t>
            </a:r>
          </a:p>
        </p:txBody>
      </p:sp>
      <p:sp>
        <p:nvSpPr>
          <p:cNvPr id="60" name="TextBox 18"/>
          <p:cNvSpPr txBox="1"/>
          <p:nvPr/>
        </p:nvSpPr>
        <p:spPr>
          <a:xfrm>
            <a:off x="3164397" y="5552909"/>
            <a:ext cx="1408913" cy="31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직업 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: 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강사</a:t>
            </a:r>
          </a:p>
        </p:txBody>
      </p:sp>
      <p:sp>
        <p:nvSpPr>
          <p:cNvPr id="61" name="TextBox 18"/>
          <p:cNvSpPr txBox="1"/>
          <p:nvPr/>
        </p:nvSpPr>
        <p:spPr>
          <a:xfrm>
            <a:off x="1251563" y="5651898"/>
            <a:ext cx="17790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 dirty="0">
                <a:solidFill>
                  <a:schemeClr val="accent4"/>
                </a:solidFill>
                <a:latin typeface="나눔고딕"/>
                <a:ea typeface="나눔고딕"/>
              </a:rPr>
              <a:t>주소 </a:t>
            </a:r>
            <a:r>
              <a:rPr lang="en-US" altLang="ko-KR" sz="1500" dirty="0">
                <a:solidFill>
                  <a:schemeClr val="accent4"/>
                </a:solidFill>
                <a:latin typeface="나눔고딕"/>
                <a:ea typeface="나눔고딕"/>
              </a:rPr>
              <a:t>:</a:t>
            </a:r>
            <a:r>
              <a:rPr lang="ko-KR" altLang="en-US" sz="1500" dirty="0">
                <a:solidFill>
                  <a:schemeClr val="accent4"/>
                </a:solidFill>
                <a:latin typeface="나눔고딕"/>
                <a:ea typeface="나눔고딕"/>
              </a:rPr>
              <a:t> 대구</a:t>
            </a:r>
          </a:p>
        </p:txBody>
      </p:sp>
      <p:sp>
        <p:nvSpPr>
          <p:cNvPr id="62" name="TextBox 18"/>
          <p:cNvSpPr txBox="1"/>
          <p:nvPr/>
        </p:nvSpPr>
        <p:spPr>
          <a:xfrm>
            <a:off x="1260465" y="4521361"/>
            <a:ext cx="1408913" cy="315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키 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: 177</a:t>
            </a:r>
          </a:p>
        </p:txBody>
      </p:sp>
      <p:cxnSp>
        <p:nvCxnSpPr>
          <p:cNvPr id="64" name="직선 연결선 63"/>
          <p:cNvCxnSpPr>
            <a:stCxn id="54" idx="2"/>
          </p:cNvCxnSpPr>
          <p:nvPr/>
        </p:nvCxnSpPr>
        <p:spPr>
          <a:xfrm rot="5400000">
            <a:off x="2524835" y="5515913"/>
            <a:ext cx="322732" cy="159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>
            <a:stCxn id="54" idx="0"/>
            <a:endCxn id="62" idx="3"/>
          </p:cNvCxnSpPr>
          <p:nvPr/>
        </p:nvCxnSpPr>
        <p:spPr>
          <a:xfrm rot="16200000" flipV="1">
            <a:off x="2547311" y="4801144"/>
            <a:ext cx="340514" cy="96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화살표: 오른쪽 66"/>
          <p:cNvSpPr/>
          <p:nvPr/>
        </p:nvSpPr>
        <p:spPr>
          <a:xfrm>
            <a:off x="5303732" y="5009081"/>
            <a:ext cx="640934" cy="50740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>
                <a:latin typeface="나눔고딕"/>
                <a:ea typeface="나눔고딕"/>
              </a:rPr>
              <a:t>구조화</a:t>
            </a:r>
          </a:p>
        </p:txBody>
      </p:sp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776343"/>
              </p:ext>
            </p:extLst>
          </p:nvPr>
        </p:nvGraphicFramePr>
        <p:xfrm>
          <a:off x="6527444" y="4449549"/>
          <a:ext cx="4134500" cy="18031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63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직업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3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>
                          <a:latin typeface="나눔고딕"/>
                          <a:ea typeface="나눔고딕"/>
                        </a:rPr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 dirty="0"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강사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3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어른유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latin typeface="나눔고딕"/>
                          <a:ea typeface="나눔고딕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latin typeface="나눔고딕"/>
                          <a:ea typeface="나눔고딕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3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식용유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3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latin typeface="나눔고딕"/>
                          <a:ea typeface="나눔고딕"/>
                        </a:rPr>
                        <a:t>그럼암유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 dirty="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370451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Database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의 발전 방향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67"/>
          <p:cNvSpPr txBox="1"/>
          <p:nvPr/>
        </p:nvSpPr>
        <p:spPr>
          <a:xfrm>
            <a:off x="1254202" y="2281863"/>
            <a:ext cx="1856663" cy="5451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>
                <a:solidFill>
                  <a:schemeClr val="accent4"/>
                </a:solidFill>
                <a:latin typeface="안상수2006가는"/>
                <a:ea typeface="안상수2006가는"/>
              </a:rPr>
              <a:t>오프라인으로 관리</a:t>
            </a:r>
          </a:p>
        </p:txBody>
      </p:sp>
      <p:sp>
        <p:nvSpPr>
          <p:cNvPr id="22" name="TextBox 18"/>
          <p:cNvSpPr txBox="1"/>
          <p:nvPr/>
        </p:nvSpPr>
        <p:spPr>
          <a:xfrm>
            <a:off x="1260545" y="2920269"/>
            <a:ext cx="1707445" cy="3925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안상수2006가는"/>
                <a:ea typeface="안상수2006가는"/>
              </a:rPr>
              <a:t>-</a:t>
            </a:r>
            <a:r>
              <a:rPr lang="ko-KR" altLang="en-US" sz="2000">
                <a:solidFill>
                  <a:schemeClr val="accent4"/>
                </a:solidFill>
                <a:latin typeface="안상수2006가는"/>
                <a:ea typeface="안상수2006가는"/>
              </a:rPr>
              <a:t> 데이터를 수기로 작성</a:t>
            </a:r>
          </a:p>
        </p:txBody>
      </p:sp>
      <p:sp>
        <p:nvSpPr>
          <p:cNvPr id="32" name="TextBox 67"/>
          <p:cNvSpPr txBox="1"/>
          <p:nvPr/>
        </p:nvSpPr>
        <p:spPr>
          <a:xfrm>
            <a:off x="1282777" y="3686175"/>
            <a:ext cx="2037638" cy="5451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>
                <a:solidFill>
                  <a:schemeClr val="accent4"/>
                </a:solidFill>
                <a:latin typeface="안상수2006가는"/>
                <a:ea typeface="안상수2006가는"/>
              </a:rPr>
              <a:t>파일시스템의 사용</a:t>
            </a:r>
          </a:p>
        </p:txBody>
      </p:sp>
      <p:sp>
        <p:nvSpPr>
          <p:cNvPr id="33" name="TextBox 18"/>
          <p:cNvSpPr txBox="1"/>
          <p:nvPr/>
        </p:nvSpPr>
        <p:spPr>
          <a:xfrm>
            <a:off x="1289122" y="4286481"/>
            <a:ext cx="4479397" cy="388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안상수2006가는"/>
                <a:ea typeface="안상수2006가는"/>
              </a:rPr>
              <a:t>-</a:t>
            </a:r>
            <a:r>
              <a:rPr lang="ko-KR" altLang="en-US" sz="2000">
                <a:solidFill>
                  <a:schemeClr val="accent4"/>
                </a:solidFill>
                <a:latin typeface="안상수2006가는"/>
                <a:ea typeface="안상수2006가는"/>
              </a:rPr>
              <a:t> 컴퓨터의 발달과 함께 데이터를 파일로 조직화 해서 저장</a:t>
            </a:r>
          </a:p>
        </p:txBody>
      </p:sp>
      <p:sp>
        <p:nvSpPr>
          <p:cNvPr id="35" name="TextBox 67"/>
          <p:cNvSpPr txBox="1"/>
          <p:nvPr/>
        </p:nvSpPr>
        <p:spPr>
          <a:xfrm>
            <a:off x="1349452" y="5343525"/>
            <a:ext cx="304088" cy="5451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 sz="3000">
              <a:solidFill>
                <a:schemeClr val="accent4"/>
              </a:solidFill>
              <a:latin typeface="안상수2006가는"/>
              <a:ea typeface="안상수2006가는"/>
            </a:endParaRPr>
          </a:p>
        </p:txBody>
      </p:sp>
      <p:sp>
        <p:nvSpPr>
          <p:cNvPr id="36" name="TextBox 18"/>
          <p:cNvSpPr txBox="1"/>
          <p:nvPr/>
        </p:nvSpPr>
        <p:spPr>
          <a:xfrm>
            <a:off x="1355797" y="5800956"/>
            <a:ext cx="5787971" cy="388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안상수2006가는"/>
                <a:ea typeface="안상수2006가는"/>
              </a:rPr>
              <a:t>-</a:t>
            </a:r>
            <a:r>
              <a:rPr lang="ko-KR" altLang="en-US" sz="2000">
                <a:solidFill>
                  <a:schemeClr val="accent4"/>
                </a:solidFill>
                <a:latin typeface="안상수2006가는"/>
                <a:ea typeface="안상수2006가는"/>
              </a:rPr>
              <a:t> 데이터의 양이 방대해 짐에 따라 많은양의 데이터를 관리할 시스템이 필요</a:t>
            </a:r>
          </a:p>
        </p:txBody>
      </p:sp>
      <p:sp>
        <p:nvSpPr>
          <p:cNvPr id="42" name="TextBox 67"/>
          <p:cNvSpPr txBox="1"/>
          <p:nvPr/>
        </p:nvSpPr>
        <p:spPr>
          <a:xfrm>
            <a:off x="1358976" y="5210175"/>
            <a:ext cx="3504489" cy="5451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>
                <a:solidFill>
                  <a:schemeClr val="accent4"/>
                </a:solidFill>
                <a:latin typeface="안상수2006가는"/>
                <a:ea typeface="안상수2006가는"/>
              </a:rPr>
              <a:t>데이터베이스 관리 시스템</a:t>
            </a:r>
            <a:r>
              <a:rPr lang="en-US" altLang="ko-KR" sz="3000">
                <a:solidFill>
                  <a:schemeClr val="accent4"/>
                </a:solidFill>
                <a:latin typeface="안상수2006가는"/>
                <a:ea typeface="안상수2006가는"/>
              </a:rPr>
              <a:t>(DBMS)</a:t>
            </a:r>
          </a:p>
        </p:txBody>
      </p:sp>
      <p:cxnSp>
        <p:nvCxnSpPr>
          <p:cNvPr id="43" name="직선 연결선 15"/>
          <p:cNvCxnSpPr/>
          <p:nvPr/>
        </p:nvCxnSpPr>
        <p:spPr>
          <a:xfrm>
            <a:off x="925862" y="1920045"/>
            <a:ext cx="0" cy="459740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61"/>
          <p:cNvSpPr/>
          <p:nvPr/>
        </p:nvSpPr>
        <p:spPr>
          <a:xfrm>
            <a:off x="739355" y="2392690"/>
            <a:ext cx="369631" cy="379156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타원 62"/>
          <p:cNvSpPr/>
          <p:nvPr/>
        </p:nvSpPr>
        <p:spPr>
          <a:xfrm>
            <a:off x="741046" y="3819525"/>
            <a:ext cx="369631" cy="379156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6" name="타원 64"/>
          <p:cNvSpPr/>
          <p:nvPr/>
        </p:nvSpPr>
        <p:spPr>
          <a:xfrm>
            <a:off x="725378" y="5358745"/>
            <a:ext cx="369631" cy="379156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5" y="654596"/>
            <a:ext cx="1561390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DBMS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sp>
        <p:nvSpPr>
          <p:cNvPr id="36" name="TextBox 18"/>
          <p:cNvSpPr txBox="1"/>
          <p:nvPr/>
        </p:nvSpPr>
        <p:spPr>
          <a:xfrm>
            <a:off x="2213930" y="2306894"/>
            <a:ext cx="8685186" cy="100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 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Data Management System </a:t>
            </a:r>
          </a:p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 파일시스템의 단점을 보완하고 대량의 데이터를 보다 효율적으로 관리하고 운영하기 위해서 사용</a:t>
            </a:r>
          </a:p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- SQL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언어를 사용해서 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DBMS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의 정보를 입력하고 관리하고 추출할 수 있다</a:t>
            </a:r>
          </a:p>
          <a:p>
            <a:pPr lvl="0">
              <a:defRPr/>
            </a:pP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- Ex) </a:t>
            </a:r>
            <a:r>
              <a:rPr lang="ko-KR" altLang="en-US" sz="1500">
                <a:solidFill>
                  <a:schemeClr val="accent4"/>
                </a:solidFill>
                <a:latin typeface="나눔고딕"/>
                <a:ea typeface="나눔고딕"/>
              </a:rPr>
              <a:t>오라클</a:t>
            </a:r>
            <a:r>
              <a:rPr lang="en-US" altLang="ko-KR" sz="1500">
                <a:solidFill>
                  <a:schemeClr val="accent4"/>
                </a:solidFill>
                <a:latin typeface="나눔고딕"/>
                <a:ea typeface="나눔고딕"/>
              </a:rPr>
              <a:t>DB, Mysql , MSSQL , MariaDB ....</a:t>
            </a:r>
          </a:p>
        </p:txBody>
      </p:sp>
      <p:sp>
        <p:nvSpPr>
          <p:cNvPr id="44" name="타원 61"/>
          <p:cNvSpPr/>
          <p:nvPr/>
        </p:nvSpPr>
        <p:spPr>
          <a:xfrm>
            <a:off x="683481" y="2110483"/>
            <a:ext cx="1225117" cy="1203879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47" name="TextBox 67"/>
          <p:cNvSpPr txBox="1"/>
          <p:nvPr/>
        </p:nvSpPr>
        <p:spPr>
          <a:xfrm>
            <a:off x="790370" y="2483687"/>
            <a:ext cx="1091972" cy="4671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500">
                <a:solidFill>
                  <a:schemeClr val="accent4"/>
                </a:solidFill>
                <a:latin typeface="나눔고딕"/>
                <a:ea typeface="나눔고딕"/>
              </a:rPr>
              <a:t>DBMS</a:t>
            </a:r>
          </a:p>
        </p:txBody>
      </p:sp>
      <p:sp>
        <p:nvSpPr>
          <p:cNvPr id="67" name="화살표: 오른쪽 66"/>
          <p:cNvSpPr/>
          <p:nvPr/>
        </p:nvSpPr>
        <p:spPr>
          <a:xfrm>
            <a:off x="2792337" y="5222726"/>
            <a:ext cx="640934" cy="50740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>
                <a:latin typeface="나눔고딕"/>
                <a:ea typeface="나눔고딕"/>
              </a:rPr>
              <a:t>구조화</a:t>
            </a:r>
          </a:p>
        </p:txBody>
      </p:sp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3648045" y="4752212"/>
          <a:ext cx="2238404" cy="137587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59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17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직업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17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아이유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연예인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17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어른유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17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17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0">
                          <a:latin typeface="나눔고딕"/>
                          <a:ea typeface="나눔고딕"/>
                        </a:rPr>
                        <a:t>남길동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" name="TextBox 18"/>
          <p:cNvSpPr txBox="1"/>
          <p:nvPr/>
        </p:nvSpPr>
        <p:spPr>
          <a:xfrm>
            <a:off x="635199" y="4314483"/>
            <a:ext cx="4275314" cy="38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[Data]</a:t>
            </a:r>
          </a:p>
        </p:txBody>
      </p:sp>
      <p:sp>
        <p:nvSpPr>
          <p:cNvPr id="71" name="TextBox 18"/>
          <p:cNvSpPr txBox="1"/>
          <p:nvPr/>
        </p:nvSpPr>
        <p:spPr>
          <a:xfrm>
            <a:off x="3592845" y="4357744"/>
            <a:ext cx="2067651" cy="393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[Table]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6096000" y="4590694"/>
            <a:ext cx="2528130" cy="185158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100">
              <a:latin typeface="나눔고딕"/>
              <a:ea typeface="나눔고딕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6600439" y="4649900"/>
          <a:ext cx="1938128" cy="13208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84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직업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아이유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0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어른유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남길동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6440205" y="4783428"/>
          <a:ext cx="1933586" cy="13208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84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넘버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아이유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0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어른유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남길동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5" name="표 74"/>
          <p:cNvGraphicFramePr>
            <a:graphicFrameLocks noGrp="1"/>
          </p:cNvGraphicFramePr>
          <p:nvPr/>
        </p:nvGraphicFramePr>
        <p:xfrm>
          <a:off x="6253266" y="5041582"/>
          <a:ext cx="1938128" cy="132079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84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직업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아이유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연예인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5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어른유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남길동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" name="TextBox 18"/>
          <p:cNvSpPr txBox="1"/>
          <p:nvPr/>
        </p:nvSpPr>
        <p:spPr>
          <a:xfrm>
            <a:off x="6096000" y="4162971"/>
            <a:ext cx="2067651" cy="393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[Database]</a:t>
            </a:r>
          </a:p>
        </p:txBody>
      </p:sp>
      <p:sp>
        <p:nvSpPr>
          <p:cNvPr id="79" name="TextBox 18"/>
          <p:cNvSpPr txBox="1"/>
          <p:nvPr/>
        </p:nvSpPr>
        <p:spPr>
          <a:xfrm>
            <a:off x="6248400" y="5027520"/>
            <a:ext cx="2067651" cy="26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accent4"/>
                </a:solidFill>
                <a:latin typeface="나눔고딕"/>
                <a:ea typeface="나눔고딕"/>
              </a:rPr>
              <a:t>Table 01</a:t>
            </a:r>
          </a:p>
        </p:txBody>
      </p:sp>
      <p:sp>
        <p:nvSpPr>
          <p:cNvPr id="80" name="TextBox 18"/>
          <p:cNvSpPr txBox="1"/>
          <p:nvPr/>
        </p:nvSpPr>
        <p:spPr>
          <a:xfrm>
            <a:off x="6409701" y="4751385"/>
            <a:ext cx="2067651" cy="26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accent4"/>
                </a:solidFill>
                <a:latin typeface="나눔고딕"/>
                <a:ea typeface="나눔고딕"/>
              </a:rPr>
              <a:t>Table 02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8925982" y="4275311"/>
            <a:ext cx="2835047" cy="21479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100">
              <a:latin typeface="나눔고딕"/>
              <a:ea typeface="나눔고딕"/>
            </a:endParaRPr>
          </a:p>
        </p:txBody>
      </p:sp>
      <p:sp>
        <p:nvSpPr>
          <p:cNvPr id="82" name="TextBox 18"/>
          <p:cNvSpPr txBox="1"/>
          <p:nvPr/>
        </p:nvSpPr>
        <p:spPr>
          <a:xfrm>
            <a:off x="8858250" y="3854996"/>
            <a:ext cx="2067651" cy="393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[DBMS]</a:t>
            </a:r>
          </a:p>
        </p:txBody>
      </p:sp>
      <p:graphicFrame>
        <p:nvGraphicFramePr>
          <p:cNvPr id="85" name="표 84"/>
          <p:cNvGraphicFramePr>
            <a:graphicFrameLocks noGrp="1"/>
          </p:cNvGraphicFramePr>
          <p:nvPr/>
        </p:nvGraphicFramePr>
        <p:xfrm>
          <a:off x="9665332" y="4474316"/>
          <a:ext cx="1938128" cy="132079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84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이름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나이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주소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직업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아이유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연예인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5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어른유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25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홍길동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남길동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4" name="표 83"/>
          <p:cNvGraphicFramePr>
            <a:graphicFrameLocks noGrp="1"/>
          </p:cNvGraphicFramePr>
          <p:nvPr/>
        </p:nvGraphicFramePr>
        <p:xfrm>
          <a:off x="9284332" y="4749482"/>
          <a:ext cx="1938128" cy="132079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84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이름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나이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주소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직업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아이유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연예인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5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어른유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25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홍길동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남길동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9093832" y="4992899"/>
          <a:ext cx="1938128" cy="132079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84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이름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나이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주소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직업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아이유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연예인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5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어른유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25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홍길동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00">
                          <a:latin typeface="나눔고딕"/>
                          <a:ea typeface="나눔고딕"/>
                        </a:rPr>
                        <a:t>남길동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">
                          <a:latin typeface="나눔고딕"/>
                          <a:ea typeface="나눔고딕"/>
                        </a:rPr>
                        <a:t>...</a:t>
                      </a:r>
                    </a:p>
                  </a:txBody>
                  <a:tcPr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7" name="TextBox 18"/>
          <p:cNvSpPr txBox="1"/>
          <p:nvPr/>
        </p:nvSpPr>
        <p:spPr>
          <a:xfrm>
            <a:off x="9105276" y="4990568"/>
            <a:ext cx="1234497" cy="2653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accent4"/>
                </a:solidFill>
                <a:latin typeface="나눔고딕"/>
                <a:ea typeface="나눔고딕"/>
              </a:rPr>
              <a:t>DB 01</a:t>
            </a:r>
          </a:p>
        </p:txBody>
      </p:sp>
      <p:sp>
        <p:nvSpPr>
          <p:cNvPr id="88" name="TextBox 18"/>
          <p:cNvSpPr txBox="1"/>
          <p:nvPr/>
        </p:nvSpPr>
        <p:spPr>
          <a:xfrm>
            <a:off x="9277787" y="4727044"/>
            <a:ext cx="2067651" cy="2716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accent4"/>
                </a:solidFill>
                <a:latin typeface="나눔고딕"/>
                <a:ea typeface="나눔고딕"/>
              </a:rPr>
              <a:t>DB 02</a:t>
            </a:r>
          </a:p>
        </p:txBody>
      </p:sp>
      <p:sp>
        <p:nvSpPr>
          <p:cNvPr id="89" name="TextBox 18"/>
          <p:cNvSpPr txBox="1"/>
          <p:nvPr/>
        </p:nvSpPr>
        <p:spPr>
          <a:xfrm>
            <a:off x="9651377" y="4437060"/>
            <a:ext cx="2067651" cy="26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accent4"/>
                </a:solidFill>
                <a:latin typeface="나눔고딕"/>
                <a:ea typeface="나눔고딕"/>
              </a:rPr>
              <a:t>DB 03</a:t>
            </a:r>
          </a:p>
        </p:txBody>
      </p:sp>
      <p:sp>
        <p:nvSpPr>
          <p:cNvPr id="90" name="TextBox 18"/>
          <p:cNvSpPr txBox="1"/>
          <p:nvPr/>
        </p:nvSpPr>
        <p:spPr>
          <a:xfrm>
            <a:off x="8947150" y="4324896"/>
            <a:ext cx="2067651" cy="393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solidFill>
                  <a:srgbClr val="144E37"/>
                </a:solidFill>
                <a:latin typeface="나눔고딕"/>
                <a:ea typeface="나눔고딕"/>
              </a:rPr>
              <a:t>SQL</a:t>
            </a:r>
          </a:p>
        </p:txBody>
      </p:sp>
      <p:grpSp>
        <p:nvGrpSpPr>
          <p:cNvPr id="119" name="그룹 118"/>
          <p:cNvGrpSpPr/>
          <p:nvPr/>
        </p:nvGrpSpPr>
        <p:grpSpPr>
          <a:xfrm>
            <a:off x="643992" y="5014570"/>
            <a:ext cx="2556700" cy="1203349"/>
            <a:chOff x="1216102" y="4492517"/>
            <a:chExt cx="3357204" cy="1533294"/>
          </a:xfrm>
        </p:grpSpPr>
        <p:sp>
          <p:nvSpPr>
            <p:cNvPr id="105" name="TextBox 67"/>
            <p:cNvSpPr txBox="1"/>
            <p:nvPr/>
          </p:nvSpPr>
          <p:spPr>
            <a:xfrm>
              <a:off x="1216102" y="5343525"/>
              <a:ext cx="304088" cy="545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endParaRPr lang="ko-KR" altLang="en-US" sz="1400">
                <a:solidFill>
                  <a:schemeClr val="accent4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106" name="사각형: 둥근 모서리 105"/>
            <p:cNvSpPr/>
            <p:nvPr/>
          </p:nvSpPr>
          <p:spPr>
            <a:xfrm>
              <a:off x="2344905" y="5019591"/>
              <a:ext cx="659315" cy="41451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800">
                  <a:latin typeface="나눔고딕"/>
                  <a:ea typeface="나눔고딕"/>
                </a:rPr>
                <a:t>정우균</a:t>
              </a:r>
            </a:p>
          </p:txBody>
        </p:sp>
        <p:cxnSp>
          <p:nvCxnSpPr>
            <p:cNvPr id="107" name="직선 연결선 106"/>
            <p:cNvCxnSpPr/>
            <p:nvPr/>
          </p:nvCxnSpPr>
          <p:spPr>
            <a:xfrm rot="5400000" flipH="1" flipV="1">
              <a:off x="2958269" y="4826594"/>
              <a:ext cx="249251" cy="2225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 rot="16200000" flipH="1">
              <a:off x="2984974" y="5414116"/>
              <a:ext cx="222547" cy="2136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rot="10800000">
              <a:off x="2125944" y="4893357"/>
              <a:ext cx="213643" cy="169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 rot="10800000" flipV="1">
              <a:off x="2072533" y="5418567"/>
              <a:ext cx="284859" cy="240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8"/>
            <p:cNvSpPr txBox="1"/>
            <p:nvPr/>
          </p:nvSpPr>
          <p:spPr>
            <a:xfrm>
              <a:off x="3163328" y="4492517"/>
              <a:ext cx="1408912" cy="380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>
                  <a:solidFill>
                    <a:schemeClr val="accent4"/>
                  </a:solidFill>
                  <a:latin typeface="나눔고딕"/>
                  <a:ea typeface="나눔고딕"/>
                </a:rPr>
                <a:t>나이 </a:t>
              </a:r>
              <a:r>
                <a:rPr lang="en-US" altLang="ko-KR" sz="1400">
                  <a:solidFill>
                    <a:schemeClr val="accent4"/>
                  </a:solidFill>
                  <a:latin typeface="나눔고딕"/>
                  <a:ea typeface="나눔고딕"/>
                </a:rPr>
                <a:t>:35</a:t>
              </a:r>
            </a:p>
          </p:txBody>
        </p:sp>
        <p:sp>
          <p:nvSpPr>
            <p:cNvPr id="112" name="TextBox 18"/>
            <p:cNvSpPr txBox="1"/>
            <p:nvPr/>
          </p:nvSpPr>
          <p:spPr>
            <a:xfrm>
              <a:off x="3164394" y="5552906"/>
              <a:ext cx="1408912" cy="381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>
                  <a:solidFill>
                    <a:schemeClr val="accent4"/>
                  </a:solidFill>
                  <a:latin typeface="나눔고딕"/>
                  <a:ea typeface="나눔고딕"/>
                </a:rPr>
                <a:t>직업 </a:t>
              </a:r>
              <a:r>
                <a:rPr lang="en-US" altLang="ko-KR" sz="1400">
                  <a:solidFill>
                    <a:schemeClr val="accent4"/>
                  </a:solidFill>
                  <a:latin typeface="나눔고딕"/>
                  <a:ea typeface="나눔고딕"/>
                </a:rPr>
                <a:t>: </a:t>
              </a:r>
              <a:r>
                <a:rPr lang="ko-KR" altLang="en-US" sz="1400">
                  <a:solidFill>
                    <a:schemeClr val="accent4"/>
                  </a:solidFill>
                  <a:latin typeface="나눔고딕"/>
                  <a:ea typeface="나눔고딕"/>
                </a:rPr>
                <a:t>강사</a:t>
              </a:r>
            </a:p>
          </p:txBody>
        </p:sp>
        <p:sp>
          <p:nvSpPr>
            <p:cNvPr id="113" name="TextBox 18"/>
            <p:cNvSpPr txBox="1"/>
            <p:nvPr/>
          </p:nvSpPr>
          <p:spPr>
            <a:xfrm>
              <a:off x="1251551" y="5651894"/>
              <a:ext cx="1482363" cy="37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>
                  <a:solidFill>
                    <a:schemeClr val="accent4"/>
                  </a:solidFill>
                  <a:latin typeface="나눔고딕"/>
                  <a:ea typeface="나눔고딕"/>
                </a:rPr>
                <a:t>주소 </a:t>
              </a:r>
              <a:r>
                <a:rPr lang="en-US" altLang="ko-KR" sz="1400">
                  <a:solidFill>
                    <a:schemeClr val="accent4"/>
                  </a:solidFill>
                  <a:latin typeface="나눔고딕"/>
                  <a:ea typeface="나눔고딕"/>
                </a:rPr>
                <a:t>:</a:t>
              </a:r>
              <a:r>
                <a:rPr lang="ko-KR" altLang="en-US" sz="1400">
                  <a:solidFill>
                    <a:schemeClr val="accent4"/>
                  </a:solidFill>
                  <a:latin typeface="나눔고딕"/>
                  <a:ea typeface="나눔고딕"/>
                </a:rPr>
                <a:t> 서울</a:t>
              </a:r>
            </a:p>
          </p:txBody>
        </p:sp>
        <p:sp>
          <p:nvSpPr>
            <p:cNvPr id="114" name="TextBox 18"/>
            <p:cNvSpPr txBox="1"/>
            <p:nvPr/>
          </p:nvSpPr>
          <p:spPr>
            <a:xfrm>
              <a:off x="1260461" y="4521359"/>
              <a:ext cx="1408913" cy="381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>
                  <a:solidFill>
                    <a:schemeClr val="accent4"/>
                  </a:solidFill>
                  <a:latin typeface="나눔고딕"/>
                  <a:ea typeface="나눔고딕"/>
                </a:rPr>
                <a:t>키 </a:t>
              </a:r>
              <a:r>
                <a:rPr lang="en-US" altLang="ko-KR" sz="1400">
                  <a:solidFill>
                    <a:schemeClr val="accent4"/>
                  </a:solidFill>
                  <a:latin typeface="나눔고딕"/>
                  <a:ea typeface="나눔고딕"/>
                </a:rPr>
                <a:t>: 177</a:t>
              </a:r>
            </a:p>
          </p:txBody>
        </p:sp>
        <p:cxnSp>
          <p:nvCxnSpPr>
            <p:cNvPr id="115" name="직선 연결선 114"/>
            <p:cNvCxnSpPr/>
            <p:nvPr/>
          </p:nvCxnSpPr>
          <p:spPr>
            <a:xfrm flipV="1">
              <a:off x="3004220" y="5160413"/>
              <a:ext cx="314574" cy="664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/>
            <p:cNvCxnSpPr/>
            <p:nvPr/>
          </p:nvCxnSpPr>
          <p:spPr>
            <a:xfrm rot="5400000">
              <a:off x="2479237" y="5561513"/>
              <a:ext cx="322732" cy="67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/>
            <p:cNvCxnSpPr/>
            <p:nvPr/>
          </p:nvCxnSpPr>
          <p:spPr>
            <a:xfrm rot="16200000" flipV="1">
              <a:off x="2520830" y="4865860"/>
              <a:ext cx="302280" cy="51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/>
            <p:cNvCxnSpPr/>
            <p:nvPr/>
          </p:nvCxnSpPr>
          <p:spPr>
            <a:xfrm rot="10800000">
              <a:off x="1885593" y="5222726"/>
              <a:ext cx="459311" cy="41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5" y="654596"/>
            <a:ext cx="200906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DBMS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종류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47" name="TextBox 67"/>
          <p:cNvSpPr txBox="1"/>
          <p:nvPr/>
        </p:nvSpPr>
        <p:spPr>
          <a:xfrm>
            <a:off x="1197489" y="2249664"/>
            <a:ext cx="30087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DBMS </a:t>
            </a: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종류</a:t>
            </a:r>
          </a:p>
        </p:txBody>
      </p:sp>
      <p:sp>
        <p:nvSpPr>
          <p:cNvPr id="91" name="이등변 삼각형 13"/>
          <p:cNvSpPr/>
          <p:nvPr/>
        </p:nvSpPr>
        <p:spPr>
          <a:xfrm rot="5400000">
            <a:off x="860053" y="2359052"/>
            <a:ext cx="312845" cy="269694"/>
          </a:xfrm>
          <a:prstGeom prst="triangle">
            <a:avLst>
              <a:gd name="adj" fmla="val 50000"/>
            </a:avLst>
          </a:prstGeom>
          <a:solidFill>
            <a:srgbClr val="CDF2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523196"/>
              </p:ext>
            </p:extLst>
          </p:nvPr>
        </p:nvGraphicFramePr>
        <p:xfrm>
          <a:off x="942452" y="2879271"/>
          <a:ext cx="9918587" cy="33811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31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1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2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9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제작사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운영체제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Unix,Linux,Windows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오픈소스</a:t>
                      </a: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(</a:t>
                      </a: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무료</a:t>
                      </a: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),</a:t>
                      </a: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상용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MariaDB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 dirty="0">
                          <a:latin typeface="안상수2006가는"/>
                          <a:ea typeface="안상수2006가는"/>
                        </a:rPr>
                        <a:t>MariaDB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 dirty="0" err="1">
                          <a:latin typeface="안상수2006가는"/>
                          <a:ea typeface="안상수2006가는"/>
                        </a:rPr>
                        <a:t>Unix,Linux,Windows</a:t>
                      </a:r>
                      <a:endParaRPr lang="en-US" altLang="ko-KR" sz="2100" dirty="0">
                        <a:latin typeface="안상수2006가는"/>
                        <a:ea typeface="안상수2006가는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오픈 소스</a:t>
                      </a: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(</a:t>
                      </a: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무료</a:t>
                      </a: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18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SQL Sever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2100">
                        <a:latin typeface="안상수2006가는"/>
                        <a:ea typeface="안상수2006가는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9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 dirty="0">
                          <a:solidFill>
                            <a:srgbClr val="FF0000"/>
                          </a:solidFill>
                          <a:latin typeface="안상수2006가는"/>
                          <a:ea typeface="안상수2006가는"/>
                        </a:rP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solidFill>
                            <a:srgbClr val="FF0000"/>
                          </a:solidFill>
                          <a:latin typeface="안상수2006가는"/>
                          <a:ea typeface="안상수2006가는"/>
                        </a:rP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solidFill>
                            <a:srgbClr val="FF0000"/>
                          </a:solidFill>
                          <a:latin typeface="안상수2006가는"/>
                          <a:ea typeface="안상수2006가는"/>
                        </a:rPr>
                        <a:t>Unix,Linux,Windows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100" dirty="0">
                          <a:solidFill>
                            <a:srgbClr val="FF0000"/>
                          </a:solidFill>
                          <a:latin typeface="안상수2006가는"/>
                          <a:ea typeface="안상수2006가는"/>
                        </a:rPr>
                        <a:t>상용시장 점유율 </a:t>
                      </a:r>
                      <a:r>
                        <a:rPr lang="en-US" altLang="ko-KR" sz="2100" dirty="0">
                          <a:solidFill>
                            <a:srgbClr val="FF0000"/>
                          </a:solidFill>
                          <a:latin typeface="안상수2006가는"/>
                          <a:ea typeface="안상수2006가는"/>
                        </a:rPr>
                        <a:t>1</a:t>
                      </a:r>
                      <a:r>
                        <a:rPr lang="ko-KR" altLang="en-US" sz="2100" dirty="0">
                          <a:solidFill>
                            <a:srgbClr val="FF0000"/>
                          </a:solidFill>
                          <a:latin typeface="안상수2006가는"/>
                          <a:ea typeface="안상수2006가는"/>
                        </a:rPr>
                        <a:t>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44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DB2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Unix,Linux,Windows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메인 프레임 시장 점유율 </a:t>
                      </a: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1</a:t>
                      </a: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PC</a:t>
                      </a:r>
                      <a:r>
                        <a:rPr lang="ko-KR" altLang="en-US" sz="2100">
                          <a:latin typeface="안상수2006가는"/>
                          <a:ea typeface="안상수2006가는"/>
                        </a:rPr>
                        <a:t>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47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100">
                          <a:latin typeface="안상수2006가는"/>
                          <a:ea typeface="안상수2006가는"/>
                        </a:rPr>
                        <a:t>android,iOS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100" dirty="0">
                          <a:latin typeface="안상수2006가는"/>
                          <a:ea typeface="안상수2006가는"/>
                        </a:rPr>
                        <a:t>모바일 전용 오픈 소스</a:t>
                      </a:r>
                      <a:r>
                        <a:rPr lang="en-US" altLang="ko-KR" sz="2100" dirty="0">
                          <a:latin typeface="안상수2006가는"/>
                          <a:ea typeface="안상수2006가는"/>
                        </a:rPr>
                        <a:t>(</a:t>
                      </a:r>
                      <a:r>
                        <a:rPr lang="ko-KR" altLang="en-US" sz="2100" dirty="0">
                          <a:latin typeface="안상수2006가는"/>
                          <a:ea typeface="안상수2006가는"/>
                        </a:rPr>
                        <a:t>무료</a:t>
                      </a:r>
                      <a:r>
                        <a:rPr lang="en-US" altLang="ko-KR" sz="2100" dirty="0">
                          <a:latin typeface="안상수2006가는"/>
                          <a:ea typeface="안상수2006가는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8"/>
            <a:ext cx="4129081" cy="1746433"/>
            <a:chOff x="527768" y="1560899"/>
            <a:chExt cx="5187232" cy="2193988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17"/>
              <a:ext cx="5101691" cy="695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Oracle Database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9"/>
              <a:ext cx="4338897" cy="16625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 dirty="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27536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Database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정의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미국 오라클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(Oracle)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사의 관계형 데이터베이스 관리 시스템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(RDBMS)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의 이름이다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.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=&gt; RDBMS(Relational Database Management System):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관계형 데이터베이스를 생성하고 수정하고 관리할 수 있는 소프트웨어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검색이나 업데이트용 언어로는 국제표준화기구의 표준 구조화 조회 언어와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PL/SQL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을 지원한다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.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대표적인 기업용 데이터베이스이며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,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 Demilight"/>
              </a:rPr>
              <a:t>윈도우즈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유닉스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솔라리스 등 기업체에서 사용하는 대부분의 서버군에 설치할 수 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.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  <a:p>
            <a:pPr algn="l"/>
            <a:r>
              <a:rPr lang="ko-KR" altLang="en-US" b="0" i="0" dirty="0">
                <a:solidFill>
                  <a:srgbClr val="555555"/>
                </a:solidFill>
                <a:effectLst/>
                <a:latin typeface="Noto Sans KR"/>
              </a:rPr>
              <a:t>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27536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Database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499F068D-E93C-45FD-AF61-1FE3C9113B6F}"/>
              </a:ext>
            </a:extLst>
          </p:cNvPr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특징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17A71-C666-41DD-A335-A491C250E07F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20196C-5E67-4AC7-B91C-454C7D7940E3}"/>
              </a:ext>
            </a:extLst>
          </p:cNvPr>
          <p:cNvSpPr txBox="1"/>
          <p:nvPr/>
        </p:nvSpPr>
        <p:spPr>
          <a:xfrm>
            <a:off x="270352" y="2743760"/>
            <a:ext cx="113961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대규모 데이터베이스를 지원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/ MSSQL, MYSQL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보다 대량의 정보관리를 할 때에 가장 좋은 성능을 보인다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.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고성능 트랜잭션 처리를 제공하여 속도가 빠르다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SQL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문을 실행하는 가장 효율적인 방법을 선택한다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.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오라클 서버가 운영되려면 인스턴스가 메모리에 할당되어야 하며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이를 위해서는 파라미터 파일이 필요하다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.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Listener: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클라이언트가 오라클 서버에 접속하기 위해서 서버 컴퓨터에 하는 설정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외부에서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Oracle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서버가 통신하기 위해서는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Listener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를 통해서 통신을 하게 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.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2837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27536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Database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499F068D-E93C-45FD-AF61-1FE3C9113B6F}"/>
              </a:ext>
            </a:extLst>
          </p:cNvPr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000" i="0" dirty="0">
                <a:solidFill>
                  <a:srgbClr val="212529"/>
                </a:solidFill>
                <a:effectLst/>
                <a:latin typeface="안상수2006가는"/>
              </a:rPr>
              <a:t>Oracle DB Edition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17A71-C666-41DD-A335-A491C250E07F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127C4098-64B7-4EEC-AB8C-009D9D530C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" t="27606" r="21273"/>
          <a:stretch/>
        </p:blipFill>
        <p:spPr>
          <a:xfrm>
            <a:off x="194310" y="2862985"/>
            <a:ext cx="9625750" cy="325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59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499F068D-E93C-45FD-AF61-1FE3C9113B6F}"/>
              </a:ext>
            </a:extLst>
          </p:cNvPr>
          <p:cNvSpPr txBox="1"/>
          <p:nvPr/>
        </p:nvSpPr>
        <p:spPr>
          <a:xfrm>
            <a:off x="0" y="56822"/>
            <a:ext cx="82596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200" i="0" u="sng" dirty="0">
                <a:solidFill>
                  <a:srgbClr val="212529"/>
                </a:solidFill>
                <a:effectLst/>
                <a:latin typeface="-apple-system"/>
              </a:rPr>
              <a:t>Oracle DB Edition</a:t>
            </a:r>
          </a:p>
        </p:txBody>
      </p: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C72544BA-BAC4-4FEB-AC7C-2DDDF0FA60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56"/>
          <a:stretch/>
        </p:blipFill>
        <p:spPr>
          <a:xfrm>
            <a:off x="1" y="952004"/>
            <a:ext cx="6022428" cy="5395428"/>
          </a:xfrm>
          <a:prstGeom prst="rect">
            <a:avLst/>
          </a:prstGeom>
        </p:spPr>
      </p:pic>
      <p:pic>
        <p:nvPicPr>
          <p:cNvPr id="20" name="그림 19" descr="텍스트이(가) 표시된 사진&#10;&#10;자동 생성된 설명">
            <a:extLst>
              <a:ext uri="{FF2B5EF4-FFF2-40B4-BE49-F238E27FC236}">
                <a16:creationId xmlns:a16="http://schemas.microsoft.com/office/drawing/2014/main" id="{84F44CB3-9054-4E9B-B7A3-04DD4093DC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" r="6740"/>
          <a:stretch/>
        </p:blipFill>
        <p:spPr>
          <a:xfrm>
            <a:off x="6169573" y="1109686"/>
            <a:ext cx="5865099" cy="239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2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499F068D-E93C-45FD-AF61-1FE3C9113B6F}"/>
              </a:ext>
            </a:extLst>
          </p:cNvPr>
          <p:cNvSpPr txBox="1"/>
          <p:nvPr/>
        </p:nvSpPr>
        <p:spPr>
          <a:xfrm>
            <a:off x="0" y="56822"/>
            <a:ext cx="82596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200" i="0" u="sng" dirty="0">
                <a:solidFill>
                  <a:srgbClr val="212529"/>
                </a:solidFill>
                <a:effectLst/>
                <a:latin typeface="-apple-system"/>
              </a:rPr>
              <a:t>Oracle DB Edition</a:t>
            </a: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D4670064-ACF2-4126-A770-099690E719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293" b="78227"/>
          <a:stretch/>
        </p:blipFill>
        <p:spPr>
          <a:xfrm>
            <a:off x="66154" y="1813232"/>
            <a:ext cx="2781558" cy="91858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BFA7B56-6761-45DC-8F43-30D84A65B175}"/>
              </a:ext>
            </a:extLst>
          </p:cNvPr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471746B-4902-4DC5-882F-C27FC46F861D}"/>
              </a:ext>
            </a:extLst>
          </p:cNvPr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4EA903-2A79-4691-9272-B8A2EA54B5C7}"/>
              </a:ext>
            </a:extLst>
          </p:cNvPr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64043E-B4D6-4498-AF0D-56FDADE5E71D}"/>
              </a:ext>
            </a:extLst>
          </p:cNvPr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4F3E4-0B95-40AF-B5F7-7A5B63801433}"/>
              </a:ext>
            </a:extLst>
          </p:cNvPr>
          <p:cNvSpPr txBox="1"/>
          <p:nvPr/>
        </p:nvSpPr>
        <p:spPr>
          <a:xfrm>
            <a:off x="863676" y="654596"/>
            <a:ext cx="27536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Database</a:t>
            </a:r>
          </a:p>
        </p:txBody>
      </p:sp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612429C4-1013-440A-AA79-9CFC69EDC2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49"/>
          <a:stretch/>
        </p:blipFill>
        <p:spPr>
          <a:xfrm>
            <a:off x="194310" y="2731813"/>
            <a:ext cx="9105614" cy="293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6A9FBEBD-7679-4AAD-A141-5D8E75968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4" y="398544"/>
            <a:ext cx="6424217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6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A5584DFF-1F19-4C56-AD55-642B754F82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8"/>
          <a:stretch/>
        </p:blipFill>
        <p:spPr>
          <a:xfrm>
            <a:off x="123824" y="161925"/>
            <a:ext cx="5806707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BFABCD7E-965E-441D-BB8B-BDB7E1FDC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1" y="303406"/>
            <a:ext cx="6248942" cy="48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5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9ADE2DFF-1181-421C-A6C9-DB7368FD0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66" y="248577"/>
            <a:ext cx="6127011" cy="589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733CC9DB-8276-436E-AE36-DA7813AC9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23" y="161925"/>
            <a:ext cx="6165114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6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6"/>
            <a:ext cx="4433167" cy="1929454"/>
            <a:chOff x="527768" y="1560896"/>
            <a:chExt cx="5187232" cy="2083905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14"/>
              <a:ext cx="5101690" cy="585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고생하셨습니다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6"/>
              <a:ext cx="4338897" cy="1415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E N</a:t>
              </a:r>
              <a:r>
                <a:rPr lang="ko-KR" altLang="en-US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 </a:t>
              </a: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D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614</Words>
  <Application>Microsoft Office PowerPoint</Application>
  <PresentationFormat>와이드스크린</PresentationFormat>
  <Paragraphs>289</Paragraphs>
  <Slides>18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-apple-system</vt:lpstr>
      <vt:lpstr>Noto Sans Demilight</vt:lpstr>
      <vt:lpstr>Noto Sans KR</vt:lpstr>
      <vt:lpstr>나눔고딕</vt:lpstr>
      <vt:lpstr>나눔스퀘어라운드 Regular</vt:lpstr>
      <vt:lpstr>안상수2006가는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248</cp:revision>
  <dcterms:created xsi:type="dcterms:W3CDTF">2015-07-07T04:48:58Z</dcterms:created>
  <dcterms:modified xsi:type="dcterms:W3CDTF">2022-03-15T00:47:22Z</dcterms:modified>
  <cp:version>1000.0000.01</cp:version>
</cp:coreProperties>
</file>